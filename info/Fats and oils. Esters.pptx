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5" r:id="rId2"/>
    <p:sldId id="266" r:id="rId3"/>
    <p:sldId id="267" r:id="rId4"/>
    <p:sldId id="268" r:id="rId5"/>
    <p:sldId id="269" r:id="rId6"/>
    <p:sldId id="27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8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4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0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02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0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50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73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7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52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28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46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74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0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F10BBC9-1B48-43AC-A079-933BC22D441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1D503E52-BD02-4C9A-850B-204BCC264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58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Fats and oils are </a:t>
            </a:r>
            <a:r>
              <a:rPr lang="en-US" dirty="0" err="1"/>
              <a:t>looooooong</a:t>
            </a:r>
            <a:r>
              <a:rPr lang="en-US" dirty="0"/>
              <a:t> esters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If we start with an alcohol (glycerol or propan-1,2,3-triol) and add </a:t>
            </a:r>
            <a:r>
              <a:rPr lang="en-US" sz="2800" dirty="0" err="1"/>
              <a:t>ethanoic</a:t>
            </a:r>
            <a:r>
              <a:rPr lang="en-US" sz="2800" dirty="0"/>
              <a:t> acid…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79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remember: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28600" y="1951037"/>
            <a:ext cx="3657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Fatty acids are long carboxylic acids.</a:t>
            </a:r>
          </a:p>
          <a:p>
            <a:r>
              <a:rPr lang="en-US" sz="2800" dirty="0"/>
              <a:t>Called fatty because they can form fats and oils.</a:t>
            </a:r>
          </a:p>
          <a:p>
            <a:r>
              <a:rPr lang="en-US" sz="2800" dirty="0"/>
              <a:t>Can be saturated or unsaturated</a:t>
            </a:r>
          </a:p>
        </p:txBody>
      </p:sp>
      <p:pic>
        <p:nvPicPr>
          <p:cNvPr id="9218" name="Picture 2" descr="http://www.medicine-raw-materials.com/uploadfile/201003/9/193044545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495548"/>
            <a:ext cx="5105400" cy="382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78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2264E67-6F59-4D8D-8E5F-8245B0FEA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" y="0"/>
            <a:ext cx="914057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23">
            <a:extLst>
              <a:ext uri="{FF2B5EF4-FFF2-40B4-BE49-F238E27FC236}">
                <a16:creationId xmlns:a16="http://schemas.microsoft.com/office/drawing/2014/main" id="{158E1C6E-D299-4F5D-B15B-155EBF7F6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7753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12121"/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38635" y="457201"/>
            <a:ext cx="2681803" cy="1332688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Fatty acids: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572315" y="3810000"/>
            <a:ext cx="8343085" cy="2840962"/>
          </a:xfrm>
          <a:solidFill>
            <a:schemeClr val="accent1">
              <a:lumMod val="75000"/>
            </a:schemeClr>
          </a:solidFill>
        </p:spPr>
        <p:txBody>
          <a:bodyPr numCol="2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100" b="1" dirty="0">
                <a:solidFill>
                  <a:srgbClr val="FFFFFF"/>
                </a:solidFill>
              </a:rPr>
              <a:t>Saturated:</a:t>
            </a:r>
          </a:p>
          <a:p>
            <a:pPr lvl="1">
              <a:lnSpc>
                <a:spcPct val="90000"/>
              </a:lnSpc>
            </a:pPr>
            <a:r>
              <a:rPr lang="en-US" sz="2100" dirty="0">
                <a:solidFill>
                  <a:srgbClr val="FFFFFF"/>
                </a:solidFill>
              </a:rPr>
              <a:t>Arachidic acid (C20)</a:t>
            </a:r>
          </a:p>
          <a:p>
            <a:pPr lvl="1">
              <a:lnSpc>
                <a:spcPct val="90000"/>
              </a:lnSpc>
            </a:pPr>
            <a:r>
              <a:rPr lang="en-US" sz="2100" dirty="0">
                <a:solidFill>
                  <a:srgbClr val="FFFFFF"/>
                </a:solidFill>
              </a:rPr>
              <a:t>Stearic acid (C18)</a:t>
            </a:r>
          </a:p>
          <a:p>
            <a:pPr lvl="1">
              <a:lnSpc>
                <a:spcPct val="90000"/>
              </a:lnSpc>
            </a:pPr>
            <a:r>
              <a:rPr lang="en-US" sz="2100" dirty="0">
                <a:solidFill>
                  <a:srgbClr val="FFFFFF"/>
                </a:solidFill>
              </a:rPr>
              <a:t>Palmitic acid (C16)</a:t>
            </a:r>
          </a:p>
          <a:p>
            <a:pPr>
              <a:lnSpc>
                <a:spcPct val="90000"/>
              </a:lnSpc>
            </a:pPr>
            <a:endParaRPr lang="en-US" sz="21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2100" b="1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2100" b="1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2100" b="1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100" b="1" dirty="0">
                <a:solidFill>
                  <a:srgbClr val="FFFFFF"/>
                </a:solidFill>
              </a:rPr>
              <a:t>Unsaturated:</a:t>
            </a:r>
          </a:p>
          <a:p>
            <a:pPr lvl="1">
              <a:lnSpc>
                <a:spcPct val="90000"/>
              </a:lnSpc>
            </a:pPr>
            <a:r>
              <a:rPr lang="en-US" sz="2100" dirty="0">
                <a:solidFill>
                  <a:srgbClr val="FFFFFF"/>
                </a:solidFill>
              </a:rPr>
              <a:t>Erucic acid (C22)</a:t>
            </a:r>
          </a:p>
          <a:p>
            <a:pPr lvl="1">
              <a:lnSpc>
                <a:spcPct val="90000"/>
              </a:lnSpc>
            </a:pPr>
            <a:r>
              <a:rPr lang="en-US" sz="2100" dirty="0">
                <a:solidFill>
                  <a:srgbClr val="FFFFFF"/>
                </a:solidFill>
              </a:rPr>
              <a:t>Oleic acid(C18)</a:t>
            </a:r>
          </a:p>
          <a:p>
            <a:pPr lvl="1">
              <a:lnSpc>
                <a:spcPct val="90000"/>
              </a:lnSpc>
            </a:pPr>
            <a:r>
              <a:rPr lang="en-US" sz="2100" dirty="0">
                <a:solidFill>
                  <a:srgbClr val="FFFFFF"/>
                </a:solidFill>
              </a:rPr>
              <a:t>Arachidonic acid (C20) </a:t>
            </a:r>
          </a:p>
          <a:p>
            <a:pPr lvl="1">
              <a:lnSpc>
                <a:spcPct val="90000"/>
              </a:lnSpc>
            </a:pPr>
            <a:r>
              <a:rPr lang="en-US" sz="2100" dirty="0">
                <a:solidFill>
                  <a:srgbClr val="FFFFFF"/>
                </a:solidFill>
              </a:rPr>
              <a:t>Linoleic acid (C18, 2 double bonds)</a:t>
            </a:r>
          </a:p>
          <a:p>
            <a:pPr lvl="1">
              <a:lnSpc>
                <a:spcPct val="90000"/>
              </a:lnSpc>
            </a:pPr>
            <a:r>
              <a:rPr lang="en-US" sz="2100" dirty="0">
                <a:solidFill>
                  <a:srgbClr val="FFFFFF"/>
                </a:solidFill>
              </a:rPr>
              <a:t>Linolenic acid (C18, 3 double bonds)</a:t>
            </a:r>
          </a:p>
          <a:p>
            <a:pPr>
              <a:lnSpc>
                <a:spcPct val="90000"/>
              </a:lnSpc>
            </a:pP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5" name="Picture 2" descr="http://upload.wikimedia.org/wikipedia/commons/thumb/1/19/Rasyslami.jpg/300px-Rasyslami.jpg">
            <a:extLst>
              <a:ext uri="{FF2B5EF4-FFF2-40B4-BE49-F238E27FC236}">
                <a16:creationId xmlns:a16="http://schemas.microsoft.com/office/drawing/2014/main" id="{913BBE7A-C959-485D-904D-DFEC85C50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558" y="152400"/>
            <a:ext cx="4700807" cy="3525605"/>
          </a:xfrm>
          <a:prstGeom prst="roundRect">
            <a:avLst>
              <a:gd name="adj" fmla="val 3876"/>
            </a:avLst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655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properties of fats and oils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62736" y="1905000"/>
            <a:ext cx="6419850" cy="4525963"/>
          </a:xfrm>
        </p:spPr>
        <p:txBody>
          <a:bodyPr>
            <a:normAutofit/>
          </a:bodyPr>
          <a:lstStyle/>
          <a:p>
            <a:r>
              <a:rPr lang="en-US" dirty="0"/>
              <a:t>Physical state: </a:t>
            </a:r>
          </a:p>
          <a:p>
            <a:pPr lvl="1"/>
            <a:r>
              <a:rPr lang="en-US" dirty="0"/>
              <a:t>If they are liquid at room temperature (25°C) they are called oils, if they are solid, they are called fats.</a:t>
            </a:r>
          </a:p>
          <a:p>
            <a:r>
              <a:rPr lang="en-US" dirty="0"/>
              <a:t>Boiling point:</a:t>
            </a:r>
          </a:p>
          <a:p>
            <a:pPr lvl="1"/>
            <a:r>
              <a:rPr lang="en-US" dirty="0"/>
              <a:t>Fats are usually saturated molecules and will have a higher boiling point.</a:t>
            </a:r>
          </a:p>
          <a:p>
            <a:pPr lvl="1"/>
            <a:r>
              <a:rPr lang="en-US" dirty="0"/>
              <a:t>Oils are usually unsaturated molecules.</a:t>
            </a:r>
          </a:p>
          <a:p>
            <a:r>
              <a:rPr lang="en-US" dirty="0"/>
              <a:t>Solubility:</a:t>
            </a:r>
          </a:p>
          <a:p>
            <a:pPr lvl="1"/>
            <a:r>
              <a:rPr lang="en-US" dirty="0"/>
              <a:t>None of the fats and oils are soluble in water (because they have long carbon chains)</a:t>
            </a:r>
          </a:p>
          <a:p>
            <a:endParaRPr lang="en-US" dirty="0"/>
          </a:p>
        </p:txBody>
      </p:sp>
      <p:pic>
        <p:nvPicPr>
          <p:cNvPr id="11268" name="Picture 4" descr="http://harvestmarket.files.wordpress.com/2012/02/oils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5262" r="7708" b="9192"/>
          <a:stretch/>
        </p:blipFill>
        <p:spPr bwMode="auto">
          <a:xfrm>
            <a:off x="6693580" y="4343400"/>
            <a:ext cx="2287683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http://www.sciencephoto.com/image/216892/350wm/H1101176-Assortment_of_dietary_oils_and_fats-SPL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28"/>
          <a:stretch/>
        </p:blipFill>
        <p:spPr bwMode="auto">
          <a:xfrm>
            <a:off x="6705600" y="2238374"/>
            <a:ext cx="2275664" cy="195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329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5198" y="624455"/>
            <a:ext cx="7524003" cy="970450"/>
          </a:xfrm>
        </p:spPr>
        <p:txBody>
          <a:bodyPr/>
          <a:lstStyle/>
          <a:p>
            <a:r>
              <a:rPr lang="en-US" dirty="0"/>
              <a:t>Chemical properties: reactions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894221"/>
            <a:ext cx="7524003" cy="3115597"/>
          </a:xfrm>
        </p:spPr>
        <p:txBody>
          <a:bodyPr/>
          <a:lstStyle/>
          <a:p>
            <a:r>
              <a:rPr lang="en-US" dirty="0"/>
              <a:t>The inverse reaction of esterification…</a:t>
            </a:r>
          </a:p>
          <a:p>
            <a:r>
              <a:rPr lang="en-US" dirty="0"/>
              <a:t>Esters are hydrolyzed either by a base or by an acid to yield a carboxylic acid and an alcohol.</a:t>
            </a:r>
          </a:p>
          <a:p>
            <a:pPr lvl="1"/>
            <a:r>
              <a:rPr lang="en-US" dirty="0"/>
              <a:t>Hydrolysis in acid solution</a:t>
            </a:r>
          </a:p>
          <a:p>
            <a:pPr lvl="1"/>
            <a:r>
              <a:rPr lang="en-US" dirty="0"/>
              <a:t>Saponification in basic solution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6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388712"/>
              </p:ext>
            </p:extLst>
          </p:nvPr>
        </p:nvGraphicFramePr>
        <p:xfrm>
          <a:off x="748192" y="4724400"/>
          <a:ext cx="793860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050054" imgH="726661" progId="ChemDraw.Document.6.0">
                  <p:embed/>
                </p:oleObj>
              </mc:Choice>
              <mc:Fallback>
                <p:oleObj name="CS ChemDraw Drawing" r:id="rId2" imgW="5050054" imgH="72666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8192" y="4724400"/>
                        <a:ext cx="7938608" cy="1143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2895600" y="5101989"/>
            <a:ext cx="4624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+ H</a:t>
            </a:r>
            <a:r>
              <a:rPr lang="en-US" baseline="-25000" dirty="0">
                <a:solidFill>
                  <a:schemeClr val="bg2"/>
                </a:solidFill>
              </a:rPr>
              <a:t>2</a:t>
            </a:r>
            <a:r>
              <a:rPr lang="en-US" dirty="0">
                <a:solidFill>
                  <a:schemeClr val="bg2"/>
                </a:solidFill>
              </a:rPr>
              <a:t>O                                                       +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</a:t>
            </a:r>
            <a:r>
              <a:rPr lang="en-US" sz="1400" dirty="0" err="1">
                <a:solidFill>
                  <a:schemeClr val="bg2"/>
                </a:solidFill>
              </a:rPr>
              <a:t>NaOH</a:t>
            </a:r>
            <a:r>
              <a:rPr lang="en-US" sz="1400" dirty="0">
                <a:solidFill>
                  <a:schemeClr val="bg2"/>
                </a:solidFill>
              </a:rPr>
              <a:t> or H</a:t>
            </a:r>
            <a:r>
              <a:rPr lang="en-US" sz="1400" baseline="-25000" dirty="0">
                <a:solidFill>
                  <a:schemeClr val="bg2"/>
                </a:solidFill>
              </a:rPr>
              <a:t>3</a:t>
            </a:r>
            <a:r>
              <a:rPr lang="en-US" sz="1400" dirty="0">
                <a:solidFill>
                  <a:schemeClr val="bg2"/>
                </a:solidFill>
              </a:rPr>
              <a:t>O</a:t>
            </a:r>
            <a:r>
              <a:rPr lang="en-US" sz="1400" baseline="30000" dirty="0">
                <a:solidFill>
                  <a:schemeClr val="bg2"/>
                </a:solidFill>
              </a:rPr>
              <a:t>+</a:t>
            </a:r>
            <a:endParaRPr lang="en-US" baseline="30000" dirty="0">
              <a:solidFill>
                <a:schemeClr val="bg2"/>
              </a:solidFill>
            </a:endParaRPr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3886200" y="5290066"/>
            <a:ext cx="762000" cy="0"/>
          </a:xfrm>
          <a:prstGeom prst="straightConnector1">
            <a:avLst/>
          </a:prstGeom>
          <a:ln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371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86F3A-F244-4C5E-91DF-8E1868E1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272686" y="3787286"/>
            <a:ext cx="4678972" cy="1066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cs typeface="+mj-cs"/>
              </a:rPr>
              <a:t>Saponification</a:t>
            </a:r>
          </a:p>
        </p:txBody>
      </p:sp>
      <p:pic>
        <p:nvPicPr>
          <p:cNvPr id="16386" name="Picture 2" descr="How Lye Becomes Soap">
            <a:extLst>
              <a:ext uri="{FF2B5EF4-FFF2-40B4-BE49-F238E27FC236}">
                <a16:creationId xmlns:a16="http://schemas.microsoft.com/office/drawing/2014/main" id="{63865212-EDA2-4ADF-A060-3F0B09B21F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14866" y="643465"/>
            <a:ext cx="3792022" cy="5397897"/>
          </a:xfrm>
          <a:prstGeom prst="roundRect">
            <a:avLst>
              <a:gd name="adj" fmla="val 3876"/>
            </a:avLst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6760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ble">
  <a:themeElements>
    <a:clrScheme name="Ci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Ci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i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227</Words>
  <Application>Microsoft Office PowerPoint</Application>
  <PresentationFormat>On-screen Show (4:3)</PresentationFormat>
  <Paragraphs>37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Century Gothic</vt:lpstr>
      <vt:lpstr>Wingdings 2</vt:lpstr>
      <vt:lpstr>Citable</vt:lpstr>
      <vt:lpstr>CS ChemDraw Drawing</vt:lpstr>
      <vt:lpstr>Fats and oils are looooooong esters</vt:lpstr>
      <vt:lpstr>Let’s remember:</vt:lpstr>
      <vt:lpstr>Fatty acids:</vt:lpstr>
      <vt:lpstr>Physical properties of fats and oils</vt:lpstr>
      <vt:lpstr>Chemical properties: reactions</vt:lpstr>
      <vt:lpstr>Saponification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Esters</dc:title>
  <dc:creator>Brenda Verdugo González</dc:creator>
  <cp:lastModifiedBy>Juan Antonio Silva Rodríguez</cp:lastModifiedBy>
  <cp:revision>7</cp:revision>
  <dcterms:created xsi:type="dcterms:W3CDTF">2019-03-27T15:33:31Z</dcterms:created>
  <dcterms:modified xsi:type="dcterms:W3CDTF">2026-04-19T06:06:33Z</dcterms:modified>
</cp:coreProperties>
</file>