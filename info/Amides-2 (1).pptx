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62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Rectángulo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Rectángulo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Rectángulo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Rectángulo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Rectángulo redondeado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Rectángulo redondeado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Rectángulo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Rectángulo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Rectángulo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Rectángulo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Rectángulo redondeado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Rectángulo redondeado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Rectángulo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6" name="35 Rectángulo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7" name="36 Rectángulo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Rectángulo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Rectángulo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Rectángulo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08FFB47-49EB-41B5-85A1-3150B06EB7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AMIDES?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Amides are derivatives of carboxylic acids, where the hydroxyl group has been replaced by an amino group.</a:t>
            </a:r>
          </a:p>
          <a:p>
            <a:r>
              <a:rPr lang="en-US"/>
              <a:t>Carboxylic acid + ammonia=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Carboxylic acid + 1° or 2° amine= </a:t>
            </a:r>
          </a:p>
        </p:txBody>
      </p:sp>
      <p:pic>
        <p:nvPicPr>
          <p:cNvPr id="2050" name="Picture 2" descr="http://4.bp.blogspot.com/_z_etvXOnqPU/S_WJlJgUE4I/AAAAAAAAAQY/9M5KkGGiN84/s1600/Amide-genera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987" y="3124200"/>
            <a:ext cx="2005013" cy="155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2.bp.blogspot.com/_z1WKIZdCa_c/SGmirflhWLI/AAAAAAAAAM0/Hp7fxnskjCk/s1600/200px-Amide-genera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800600"/>
            <a:ext cx="1981200" cy="184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45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r>
              <a:rPr lang="en-US"/>
              <a:t>Most common amides:</a:t>
            </a:r>
          </a:p>
        </p:txBody>
      </p:sp>
      <p:pic>
        <p:nvPicPr>
          <p:cNvPr id="1026" name="Picture 2" descr="http://www.daviddarling.info/images/amide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97"/>
          <a:stretch/>
        </p:blipFill>
        <p:spPr bwMode="auto">
          <a:xfrm>
            <a:off x="1905000" y="1905000"/>
            <a:ext cx="5715000" cy="480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2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/>
              <a:t>Physical properties: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905000"/>
            <a:ext cx="5105400" cy="4669536"/>
          </a:xfrm>
        </p:spPr>
        <p:txBody>
          <a:bodyPr>
            <a:normAutofit fontScale="85000" lnSpcReduction="20000"/>
          </a:bodyPr>
          <a:lstStyle/>
          <a:p>
            <a:r>
              <a:rPr lang="en-US" err="1"/>
              <a:t>Methanamide</a:t>
            </a:r>
            <a:r>
              <a:rPr lang="en-US"/>
              <a:t> is a liquid at room temperature (melting point: 3°C), but the other amides are solid.</a:t>
            </a:r>
          </a:p>
          <a:p>
            <a:pPr lvl="1"/>
            <a:r>
              <a:rPr lang="en-US"/>
              <a:t>For example: </a:t>
            </a:r>
            <a:r>
              <a:rPr lang="en-US" err="1"/>
              <a:t>ethanamide</a:t>
            </a:r>
            <a:r>
              <a:rPr lang="en-US"/>
              <a:t> forms colorless deliquescent crystals with a melting point of 82°C. </a:t>
            </a:r>
          </a:p>
          <a:p>
            <a:pPr lvl="1"/>
            <a:r>
              <a:rPr lang="en-US"/>
              <a:t>(A deliquescent substance is one which picks up water from the atmosphere and dissolves in it.) </a:t>
            </a:r>
          </a:p>
          <a:p>
            <a:r>
              <a:rPr lang="en-US" err="1"/>
              <a:t>Ethanamide</a:t>
            </a:r>
            <a:r>
              <a:rPr lang="en-US"/>
              <a:t> crystals nearly always look wet.</a:t>
            </a:r>
          </a:p>
          <a:p>
            <a:r>
              <a:rPr lang="en-US"/>
              <a:t>The melting points of the amides are high for the size of the molecules because </a:t>
            </a:r>
            <a:r>
              <a:rPr lang="en-US" b="1"/>
              <a:t>they can form hydrogen bonds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3076" name="Picture 4" descr="http://www.china-chemistry.com/upload/photo/ac4e02ff1e0d754c02c99103306c6bc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913798"/>
            <a:ext cx="3514725" cy="271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image.tutorvista.com/content/oxygen-ii/primary-amides-intermolecular-hydrogen-bond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292" y="2057400"/>
            <a:ext cx="3532633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45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Physical properties: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Solubility:</a:t>
            </a:r>
          </a:p>
          <a:p>
            <a:pPr lvl="1"/>
            <a:r>
              <a:rPr lang="en-US"/>
              <a:t>The small amides are soluble in water because they have the ability to hydrogen bond with the water molecules.</a:t>
            </a:r>
          </a:p>
          <a:p>
            <a:r>
              <a:rPr lang="en-US"/>
              <a:t>Compared to amines, amides are very weak bases.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6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/>
              <a:t>Uses of amides: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52400" y="1752600"/>
            <a:ext cx="5943600" cy="4821936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Amides are used widely in industry. </a:t>
            </a:r>
          </a:p>
          <a:p>
            <a:r>
              <a:rPr lang="en-US"/>
              <a:t>Amides are found in the </a:t>
            </a:r>
            <a:r>
              <a:rPr lang="en-US" i="1"/>
              <a:t>plastic and rubber industry, paper industry, water and sewage treatment, in crayons, pencils and inks</a:t>
            </a:r>
            <a:r>
              <a:rPr lang="en-US"/>
              <a:t>.</a:t>
            </a:r>
          </a:p>
          <a:p>
            <a:r>
              <a:rPr lang="en-US" b="1"/>
              <a:t>Polyacrylamide</a:t>
            </a:r>
            <a:r>
              <a:rPr lang="en-US"/>
              <a:t> is used </a:t>
            </a:r>
            <a:r>
              <a:rPr lang="en-US" b="1"/>
              <a:t>in the treatment of drinking water and sewage</a:t>
            </a:r>
            <a:r>
              <a:rPr lang="en-US"/>
              <a:t>.</a:t>
            </a:r>
          </a:p>
          <a:p>
            <a:r>
              <a:rPr lang="en-US"/>
              <a:t>The </a:t>
            </a:r>
            <a:r>
              <a:rPr lang="en-US" b="1"/>
              <a:t>paper industry </a:t>
            </a:r>
            <a:r>
              <a:rPr lang="en-US"/>
              <a:t>takes a lot of polyacrylamide produced, being used as a binder and for retention aids for fibers. It also </a:t>
            </a:r>
            <a:r>
              <a:rPr lang="en-US" b="1"/>
              <a:t>retains the color pigments on the paper</a:t>
            </a:r>
            <a:r>
              <a:rPr lang="en-US"/>
              <a:t>.</a:t>
            </a:r>
          </a:p>
          <a:p>
            <a:r>
              <a:rPr lang="en-US"/>
              <a:t>Amides are also used for explosives, adhesives, printing inks, latex thickeners and emulsion stabilizers, but these are on a much lower scale to the ones stated before.</a:t>
            </a:r>
          </a:p>
          <a:p>
            <a:endParaRPr lang="en-US"/>
          </a:p>
        </p:txBody>
      </p:sp>
      <p:pic>
        <p:nvPicPr>
          <p:cNvPr id="4098" name="Picture 2" descr="http://www.cordyne.com/assets/images/industries/Water%20Treatment%20&amp;%20Sew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504950"/>
            <a:ext cx="28194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www.catalogs.com/info/bestof/wp-content/uploads/2011/09/5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9243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44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Medical uses of amides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Sedatives</a:t>
            </a:r>
          </a:p>
          <a:p>
            <a:pPr lvl="0"/>
            <a:r>
              <a:rPr lang="en-US"/>
              <a:t>Anticonvulsant of epileptic</a:t>
            </a:r>
          </a:p>
          <a:p>
            <a:r>
              <a:rPr lang="en-US"/>
              <a:t>Anti-diarrheal:</a:t>
            </a:r>
          </a:p>
          <a:p>
            <a:pPr lvl="0"/>
            <a:r>
              <a:rPr lang="en-US"/>
              <a:t>Pain reliever</a:t>
            </a:r>
          </a:p>
          <a:p>
            <a:pPr lvl="0"/>
            <a:endParaRPr lang="en-US"/>
          </a:p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499452"/>
              </p:ext>
            </p:extLst>
          </p:nvPr>
        </p:nvGraphicFramePr>
        <p:xfrm>
          <a:off x="762000" y="4572000"/>
          <a:ext cx="269875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19250" imgH="1028700" progId="ChemWindow.Document">
                  <p:embed/>
                </p:oleObj>
              </mc:Choice>
              <mc:Fallback>
                <p:oleObj r:id="rId2" imgW="1619250" imgH="1028700" progId="ChemWindow.Document">
                  <p:embed/>
                  <p:pic>
                    <p:nvPicPr>
                      <p:cNvPr id="5" name="4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572000"/>
                        <a:ext cx="2698750" cy="171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807962"/>
              </p:ext>
            </p:extLst>
          </p:nvPr>
        </p:nvGraphicFramePr>
        <p:xfrm>
          <a:off x="6629400" y="1143000"/>
          <a:ext cx="1638300" cy="2795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76300" imgH="1495425" progId="ChemWindow.Document">
                  <p:embed/>
                </p:oleObj>
              </mc:Choice>
              <mc:Fallback>
                <p:oleObj r:id="rId4" imgW="876300" imgH="1495425" progId="ChemWindow.Document">
                  <p:embed/>
                  <p:pic>
                    <p:nvPicPr>
                      <p:cNvPr id="7" name="6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143000"/>
                        <a:ext cx="1638300" cy="2795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847" y="4191000"/>
            <a:ext cx="5032553" cy="2314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0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Polyamides: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Polyamides are polymers where the repeating units are held together by amide links.</a:t>
            </a:r>
          </a:p>
          <a:p>
            <a:r>
              <a:rPr lang="en-US"/>
              <a:t>An amide </a:t>
            </a:r>
            <a:r>
              <a:rPr lang="en-US" i="1"/>
              <a:t>group</a:t>
            </a:r>
            <a:r>
              <a:rPr lang="en-US"/>
              <a:t> has the formula - CONH</a:t>
            </a:r>
            <a:r>
              <a:rPr lang="en-US" baseline="-25000"/>
              <a:t>2</a:t>
            </a:r>
            <a:r>
              <a:rPr lang="en-US"/>
              <a:t>. An amide </a:t>
            </a:r>
            <a:r>
              <a:rPr lang="en-US" i="1"/>
              <a:t>link</a:t>
            </a:r>
            <a:r>
              <a:rPr lang="en-US"/>
              <a:t> has this structure: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 an amide itself, of course, the bond on the right is attached to a hydrogen atom.</a:t>
            </a:r>
          </a:p>
          <a:p>
            <a:endParaRPr lang="en-US"/>
          </a:p>
        </p:txBody>
      </p:sp>
      <p:pic>
        <p:nvPicPr>
          <p:cNvPr id="6146" name="Picture 2" descr="http://www.chemguide.co.uk/organicprops/amides/amidelink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373063"/>
            <a:ext cx="723900" cy="78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brl.org/chemistry/gifs/443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705224"/>
            <a:ext cx="2686050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4876800" y="762000"/>
            <a:ext cx="4136069" cy="707886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4000"/>
              <a:t>Nylon and Kevlar</a:t>
            </a:r>
          </a:p>
        </p:txBody>
      </p:sp>
    </p:spTree>
    <p:extLst>
      <p:ext uri="{BB962C8B-B14F-4D97-AF65-F5344CB8AC3E}">
        <p14:creationId xmlns:p14="http://schemas.microsoft.com/office/powerpoint/2010/main" val="717928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2C5A9D00CEA4F9D2D87607807E953" ma:contentTypeVersion="13" ma:contentTypeDescription="Create a new document." ma:contentTypeScope="" ma:versionID="590e0a48d3d858c03808e2c76993f3cf">
  <xsd:schema xmlns:xsd="http://www.w3.org/2001/XMLSchema" xmlns:xs="http://www.w3.org/2001/XMLSchema" xmlns:p="http://schemas.microsoft.com/office/2006/metadata/properties" xmlns:ns3="a797b910-cc35-46e8-90ff-6a1e0046fd87" xmlns:ns4="952d2224-4720-4718-b0dd-ec34acbcea8e" targetNamespace="http://schemas.microsoft.com/office/2006/metadata/properties" ma:root="true" ma:fieldsID="bc870211302bb92755deab584e164952" ns3:_="" ns4:_="">
    <xsd:import namespace="a797b910-cc35-46e8-90ff-6a1e0046fd87"/>
    <xsd:import namespace="952d2224-4720-4718-b0dd-ec34acbcea8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7b910-cc35-46e8-90ff-6a1e0046fd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d2224-4720-4718-b0dd-ec34acbcea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31BB24-BB33-4F3F-B5EC-1A8CA106F9E8}">
  <ds:schemaRefs>
    <ds:schemaRef ds:uri="952d2224-4720-4718-b0dd-ec34acbcea8e"/>
    <ds:schemaRef ds:uri="a797b910-cc35-46e8-90ff-6a1e0046fd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2867146-49EB-4A40-90FF-E653CBE98EA5}">
  <ds:schemaRefs>
    <ds:schemaRef ds:uri="http://purl.org/dc/dcmitype/"/>
    <ds:schemaRef ds:uri="952d2224-4720-4718-b0dd-ec34acbcea8e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a797b910-cc35-46e8-90ff-6a1e0046fd87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B50A567-2331-4DD9-927F-1B15FE3290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2935</TotalTime>
  <Words>344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Georgia</vt:lpstr>
      <vt:lpstr>Trebuchet MS</vt:lpstr>
      <vt:lpstr>Wingdings 2</vt:lpstr>
      <vt:lpstr>Urbano</vt:lpstr>
      <vt:lpstr>ChemWindow.Document</vt:lpstr>
      <vt:lpstr>What are AMIDES?</vt:lpstr>
      <vt:lpstr>Most common amides:</vt:lpstr>
      <vt:lpstr>Physical properties:</vt:lpstr>
      <vt:lpstr>Physical properties:</vt:lpstr>
      <vt:lpstr>Uses of amides:</vt:lpstr>
      <vt:lpstr>Medical uses of amides</vt:lpstr>
      <vt:lpstr>Polyamides: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Amines and amides</dc:title>
  <dc:creator>Brenda</dc:creator>
  <cp:lastModifiedBy>Juan Antonio Silva Rodríguez</cp:lastModifiedBy>
  <cp:revision>4</cp:revision>
  <dcterms:created xsi:type="dcterms:W3CDTF">2012-04-06T01:29:23Z</dcterms:created>
  <dcterms:modified xsi:type="dcterms:W3CDTF">2026-05-03T03:41:01Z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0x01010077C2C5A9D00CEA4F9D2D87607807E953</vt:lpwstr>
  </property>
</Properties>
</file>