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1" r:id="rId6"/>
    <p:sldId id="262" r:id="rId7"/>
    <p:sldId id="258" r:id="rId8"/>
    <p:sldId id="259" r:id="rId9"/>
    <p:sldId id="260" r:id="rId10"/>
    <p:sldId id="264" r:id="rId11"/>
    <p:sldId id="263" r:id="rId12"/>
    <p:sldId id="271" r:id="rId13"/>
    <p:sldId id="272" r:id="rId14"/>
    <p:sldId id="273" r:id="rId15"/>
    <p:sldId id="274" r:id="rId16"/>
    <p:sldId id="265" r:id="rId17"/>
    <p:sldId id="266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62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Rectángulo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23 Rectángulo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24 Rectángulo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25 Rectángulo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Rectángulo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29 Rectángulo redondeado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30 Rectángulo redondeado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Rectángulo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6" name="2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Rectángulo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29 Rectángulo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30 Rectángulo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32 Rectángulo redondeado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33 Rectángulo redondeado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34 Rectángulo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6" name="35 Rectángulo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7" name="36 Rectángulo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37 Rectángulo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38 Rectángulo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39 Rectángulo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908FFB47-49EB-41B5-85A1-3150B06EB77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EA596BA-6F1B-4555-B639-533B2D54F0E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Amines and amides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249424"/>
            <a:ext cx="6731000" cy="4325112"/>
          </a:xfrm>
        </p:spPr>
        <p:txBody>
          <a:bodyPr/>
          <a:lstStyle/>
          <a:p>
            <a:r>
              <a:rPr lang="en-US"/>
              <a:t>They are nitrogen containing functional groups</a:t>
            </a:r>
          </a:p>
          <a:p>
            <a:r>
              <a:rPr lang="en-US"/>
              <a:t>Nitrogen has three single bonds and one lone pair</a:t>
            </a:r>
          </a:p>
          <a:p>
            <a:r>
              <a:rPr lang="en-US"/>
              <a:t>Amines and amides contain nitrogen atoms connected to carbons.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29" t="30928" r="44055" b="54466"/>
          <a:stretch/>
        </p:blipFill>
        <p:spPr bwMode="auto">
          <a:xfrm>
            <a:off x="6934200" y="2482427"/>
            <a:ext cx="1752600" cy="1187873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4" t="58704" r="31939" b="13999"/>
          <a:stretch/>
        </p:blipFill>
        <p:spPr bwMode="auto">
          <a:xfrm>
            <a:off x="4704347" y="4953000"/>
            <a:ext cx="4363453" cy="182880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6183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Amines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28600" y="2249424"/>
            <a:ext cx="4953000" cy="43251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Amines are </a:t>
            </a:r>
            <a:r>
              <a:rPr lang="en-US" b="1" dirty="0"/>
              <a:t>basic</a:t>
            </a:r>
            <a:r>
              <a:rPr lang="en-US" dirty="0"/>
              <a:t> compounds with strong odors. </a:t>
            </a:r>
          </a:p>
          <a:p>
            <a:r>
              <a:rPr lang="en-US" dirty="0"/>
              <a:t>The odor of amines is often described as "fishy" since the odor of raw fish comes from the amines contained. </a:t>
            </a:r>
          </a:p>
          <a:p>
            <a:r>
              <a:rPr lang="en-US" dirty="0"/>
              <a:t>Substance produced in decaying flesh: cadaverine and putrescine. </a:t>
            </a:r>
          </a:p>
          <a:p>
            <a:r>
              <a:rPr lang="en-US" dirty="0"/>
              <a:t>Amines are essential to life as constituents of amino acids. </a:t>
            </a:r>
          </a:p>
          <a:p>
            <a:endParaRPr lang="en-US" dirty="0"/>
          </a:p>
        </p:txBody>
      </p:sp>
      <p:pic>
        <p:nvPicPr>
          <p:cNvPr id="1026" name="Picture 2" descr="http://www.fieldandstream.com/files/imagecache/photo-article/photo/38356/FN_FIsh_kill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3"/>
          <a:stretch/>
        </p:blipFill>
        <p:spPr bwMode="auto">
          <a:xfrm>
            <a:off x="5410200" y="3886200"/>
            <a:ext cx="3657600" cy="283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www.dreamomania.com/dreamdictionary/wp-content/uploads/2011/12/carrion-of-an-animal3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73" r="6177"/>
          <a:stretch/>
        </p:blipFill>
        <p:spPr bwMode="auto">
          <a:xfrm>
            <a:off x="5410200" y="800736"/>
            <a:ext cx="3657600" cy="3009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utrescine and Cadaverine: Two Chemicals That Earned Their Names | American  Council on Science and Health">
            <a:extLst>
              <a:ext uri="{FF2B5EF4-FFF2-40B4-BE49-F238E27FC236}">
                <a16:creationId xmlns:a16="http://schemas.microsoft.com/office/drawing/2014/main" id="{9A36601E-3569-D9DF-C081-1385B0BC7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401" y="2552064"/>
            <a:ext cx="6181952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25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62000" y="762000"/>
            <a:ext cx="8229600" cy="1066800"/>
          </a:xfrm>
        </p:spPr>
        <p:txBody>
          <a:bodyPr>
            <a:normAutofit fontScale="90000"/>
          </a:bodyPr>
          <a:lstStyle/>
          <a:p>
            <a:pPr algn="r"/>
            <a:r>
              <a:rPr lang="en-US"/>
              <a:t>Amines: </a:t>
            </a:r>
            <a:br>
              <a:rPr lang="en-US"/>
            </a:br>
            <a:r>
              <a:rPr lang="en-US"/>
              <a:t>where can we find them?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10000" y="2249424"/>
            <a:ext cx="4876800" cy="4325112"/>
          </a:xfrm>
        </p:spPr>
        <p:txBody>
          <a:bodyPr>
            <a:normAutofit fontScale="92500"/>
          </a:bodyPr>
          <a:lstStyle/>
          <a:p>
            <a:r>
              <a:rPr lang="en-US"/>
              <a:t>They occur in drugs and vitamins</a:t>
            </a:r>
          </a:p>
          <a:p>
            <a:r>
              <a:rPr lang="en-US"/>
              <a:t>Essential starting materials for many synthetic processes. </a:t>
            </a:r>
          </a:p>
          <a:p>
            <a:r>
              <a:rPr lang="en-US"/>
              <a:t>Aniline (aromatic amine) is the basis for a whole class of synthetic dyes. </a:t>
            </a:r>
          </a:p>
          <a:p>
            <a:r>
              <a:rPr lang="en-US"/>
              <a:t>Synthetic amines such as </a:t>
            </a:r>
            <a:r>
              <a:rPr lang="en-US" err="1"/>
              <a:t>benzedrine</a:t>
            </a:r>
            <a:r>
              <a:rPr lang="en-US"/>
              <a:t> have medical applications. </a:t>
            </a:r>
          </a:p>
          <a:p>
            <a:endParaRPr lang="en-US"/>
          </a:p>
        </p:txBody>
      </p:sp>
      <p:pic>
        <p:nvPicPr>
          <p:cNvPr id="3074" name="Picture 2" descr="http://www.homenwomen.com/files/multivitam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340995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464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Amines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Amines are organic derivatives of ammonia, NH</a:t>
            </a:r>
            <a:r>
              <a:rPr lang="en-US" sz="2400" baseline="-25000"/>
              <a:t>3</a:t>
            </a:r>
            <a:r>
              <a:rPr lang="en-US" sz="2400"/>
              <a:t>, in which one or more of the three H’s is replaced by a carbon group.</a:t>
            </a:r>
          </a:p>
          <a:p>
            <a:r>
              <a:rPr lang="en-US" sz="2400"/>
              <a:t>Can be classified as primary, secondary and tertiary depending on how many carbon groups are connected to the nitrogen atoms.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60" t="71673" r="23670" b="6206"/>
          <a:stretch/>
        </p:blipFill>
        <p:spPr bwMode="auto">
          <a:xfrm>
            <a:off x="914400" y="4800600"/>
            <a:ext cx="7703128" cy="1765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435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Classify the following amines: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57" t="30209" r="22987" b="25868"/>
          <a:stretch/>
        </p:blipFill>
        <p:spPr bwMode="auto">
          <a:xfrm>
            <a:off x="254000" y="2273300"/>
            <a:ext cx="8660798" cy="389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0158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Physical properties of amines: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Look at the boiling points and figure out why are they so different.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08" t="30729" r="33431" b="25347"/>
          <a:stretch/>
        </p:blipFill>
        <p:spPr bwMode="auto">
          <a:xfrm>
            <a:off x="2400300" y="3340100"/>
            <a:ext cx="4457700" cy="321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209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Solubility of amines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819400"/>
            <a:ext cx="8229600" cy="3755136"/>
          </a:xfrm>
        </p:spPr>
        <p:txBody>
          <a:bodyPr>
            <a:normAutofit/>
          </a:bodyPr>
          <a:lstStyle/>
          <a:p>
            <a:r>
              <a:rPr lang="en-US"/>
              <a:t>The small amines of all types are very soluble in water. </a:t>
            </a:r>
          </a:p>
          <a:p>
            <a:pPr lvl="1"/>
            <a:r>
              <a:rPr lang="en-US"/>
              <a:t>All the amines can form hydrogen bonds with water - even the tertiary ones.</a:t>
            </a:r>
          </a:p>
          <a:p>
            <a:pPr lvl="1"/>
            <a:r>
              <a:rPr lang="en-US"/>
              <a:t>Tertiary amines can still form hydrogen bonds with water. </a:t>
            </a:r>
          </a:p>
          <a:p>
            <a:r>
              <a:rPr lang="en-US"/>
              <a:t>Solubility falls off as the hydrocarbon chains get longer - noticeably so after about 6 carbons. </a:t>
            </a:r>
          </a:p>
          <a:p>
            <a:endParaRPr lang="en-US"/>
          </a:p>
        </p:txBody>
      </p:sp>
      <p:pic>
        <p:nvPicPr>
          <p:cNvPr id="5122" name="Picture 2" descr="http://www.articlegems.co.uk/Scinet/chemistry/ep/wetamin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762000"/>
            <a:ext cx="1962150" cy="19907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840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066800"/>
          </a:xfrm>
        </p:spPr>
        <p:txBody>
          <a:bodyPr/>
          <a:lstStyle/>
          <a:p>
            <a:r>
              <a:rPr lang="en-US"/>
              <a:t>Amine nomenclature (IUPAC)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2474976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Pick out the longest continuous carbon chain. The parent's name comes from the alkane.</a:t>
            </a:r>
          </a:p>
          <a:p>
            <a:r>
              <a:rPr lang="en-US"/>
              <a:t>Change the </a:t>
            </a:r>
            <a:r>
              <a:rPr lang="en-US" i="1"/>
              <a:t>–e</a:t>
            </a:r>
            <a:r>
              <a:rPr lang="en-US"/>
              <a:t> of the alkane to </a:t>
            </a:r>
            <a:r>
              <a:rPr lang="en-US" i="1"/>
              <a:t>amine</a:t>
            </a:r>
            <a:r>
              <a:rPr lang="en-US"/>
              <a:t>.</a:t>
            </a:r>
          </a:p>
          <a:p>
            <a:r>
              <a:rPr lang="en-US"/>
              <a:t>Locate and name the substituents, the #1 carbon is the one attached to the amino group. </a:t>
            </a:r>
          </a:p>
          <a:p>
            <a:pPr lvl="1"/>
            <a:r>
              <a:rPr lang="en-US"/>
              <a:t>Substituents attached to the nitrogen atom, are designated with an N.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03" t="53030" r="29873" b="25095"/>
          <a:stretch/>
        </p:blipFill>
        <p:spPr bwMode="auto">
          <a:xfrm>
            <a:off x="1371600" y="4648199"/>
            <a:ext cx="6662058" cy="20574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1014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Nomenclature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Primary amines are named in the IUPAC system by adding the suffix amine to the name of the organic substituent</a:t>
            </a:r>
          </a:p>
          <a:p>
            <a:pPr>
              <a:buNone/>
            </a:pPr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810000"/>
            <a:ext cx="79375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33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66800"/>
          </a:xfrm>
        </p:spPr>
        <p:txBody>
          <a:bodyPr/>
          <a:lstStyle/>
          <a:p>
            <a:r>
              <a:rPr lang="en-US"/>
              <a:t>Nomenclature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4800" y="1389888"/>
            <a:ext cx="5943600" cy="4325112"/>
          </a:xfrm>
        </p:spPr>
        <p:txBody>
          <a:bodyPr/>
          <a:lstStyle/>
          <a:p>
            <a:pPr algn="just"/>
            <a:r>
              <a:rPr lang="en-US"/>
              <a:t>Amines that have additional functional groups are named by considering the –NH2 as an amino substituent on the parent molecule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2" y="3646171"/>
            <a:ext cx="7829612" cy="2419350"/>
          </a:xfrm>
          <a:prstGeom prst="rect">
            <a:avLst/>
          </a:prstGeom>
        </p:spPr>
      </p:pic>
      <p:sp>
        <p:nvSpPr>
          <p:cNvPr id="5" name="4 CuadroTexto"/>
          <p:cNvSpPr txBox="1"/>
          <p:nvPr/>
        </p:nvSpPr>
        <p:spPr>
          <a:xfrm>
            <a:off x="6509830" y="458212"/>
            <a:ext cx="2481770" cy="30469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/>
              <a:t>Priorities:</a:t>
            </a:r>
          </a:p>
          <a:p>
            <a:pPr algn="ctr"/>
            <a:endParaRPr lang="en-US" sz="2400"/>
          </a:p>
          <a:p>
            <a:pPr algn="ctr"/>
            <a:r>
              <a:rPr lang="en-US" sz="2400"/>
              <a:t>Carboxylic acids </a:t>
            </a:r>
          </a:p>
          <a:p>
            <a:pPr algn="ctr"/>
            <a:r>
              <a:rPr lang="en-US" sz="2400"/>
              <a:t>Aldehydes</a:t>
            </a:r>
          </a:p>
          <a:p>
            <a:pPr algn="ctr"/>
            <a:r>
              <a:rPr lang="en-US" sz="2400"/>
              <a:t>Ketones</a:t>
            </a:r>
          </a:p>
          <a:p>
            <a:pPr algn="ctr"/>
            <a:r>
              <a:rPr lang="en-US" sz="2400"/>
              <a:t>Alcohols</a:t>
            </a:r>
          </a:p>
          <a:p>
            <a:pPr algn="ctr"/>
            <a:r>
              <a:rPr lang="en-US" sz="2400"/>
              <a:t>NH2, NHR, NR2</a:t>
            </a:r>
          </a:p>
          <a:p>
            <a:pPr algn="ctr"/>
            <a:r>
              <a:rPr lang="en-US" sz="2400"/>
              <a:t>Alkyl, aryl, halo</a:t>
            </a:r>
          </a:p>
        </p:txBody>
      </p:sp>
    </p:spTree>
    <p:extLst>
      <p:ext uri="{BB962C8B-B14F-4D97-AF65-F5344CB8AC3E}">
        <p14:creationId xmlns:p14="http://schemas.microsoft.com/office/powerpoint/2010/main" val="625124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914850"/>
            <a:ext cx="8229600" cy="1066800"/>
          </a:xfrm>
        </p:spPr>
        <p:txBody>
          <a:bodyPr/>
          <a:lstStyle/>
          <a:p>
            <a:r>
              <a:rPr lang="en-US" dirty="0"/>
              <a:t>Nomenclature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829699"/>
            <a:ext cx="8229600" cy="4325112"/>
          </a:xfrm>
        </p:spPr>
        <p:txBody>
          <a:bodyPr/>
          <a:lstStyle/>
          <a:p>
            <a:r>
              <a:rPr lang="en-US" dirty="0"/>
              <a:t>Symmetrical secondary and tertiary amines are named by adding the prefix di-or-tri to the alkyl group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275" y="3200400"/>
            <a:ext cx="68072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88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066800"/>
          </a:xfrm>
        </p:spPr>
        <p:txBody>
          <a:bodyPr/>
          <a:lstStyle/>
          <a:p>
            <a:r>
              <a:rPr lang="en-US"/>
              <a:t>Nomenclature</a:t>
            </a:r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>
          <a:xfrm>
            <a:off x="304800" y="1828800"/>
            <a:ext cx="8458200" cy="4236721"/>
          </a:xfrm>
        </p:spPr>
        <p:txBody>
          <a:bodyPr/>
          <a:lstStyle/>
          <a:p>
            <a:r>
              <a:rPr lang="en-US"/>
              <a:t>Unsymmetrically substituted secondary and tertiary amines are named as N-substituted primary amines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14371"/>
            <a:ext cx="8198783" cy="250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11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r>
              <a:rPr lang="en-US"/>
              <a:t>Aromatic amines nomenclature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52600"/>
            <a:ext cx="4953000" cy="4325112"/>
          </a:xfrm>
        </p:spPr>
        <p:txBody>
          <a:bodyPr/>
          <a:lstStyle/>
          <a:p>
            <a:r>
              <a:rPr lang="en-US"/>
              <a:t>Aromatic amines belong to specific families, which act as parent molecules:</a:t>
            </a:r>
          </a:p>
          <a:p>
            <a:r>
              <a:rPr lang="en-US"/>
              <a:t>Example: aniline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74" t="44015" r="30163" b="30114"/>
          <a:stretch/>
        </p:blipFill>
        <p:spPr bwMode="auto">
          <a:xfrm>
            <a:off x="1143000" y="3733800"/>
            <a:ext cx="7211127" cy="25921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 descr="http://01.edu-cdn.com/files/static/mcgrawhillprof/%209780071745901/AMINES_NOMENCLATURE_0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23" y="1828800"/>
            <a:ext cx="3447777" cy="1562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936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/>
          <a:lstStyle/>
          <a:p>
            <a:r>
              <a:rPr lang="en-US"/>
              <a:t>Let’s practice: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2" t="28409" r="20463" b="11508"/>
          <a:stretch/>
        </p:blipFill>
        <p:spPr bwMode="auto">
          <a:xfrm>
            <a:off x="417285" y="1648329"/>
            <a:ext cx="8421915" cy="4981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8796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066800"/>
          </a:xfrm>
        </p:spPr>
        <p:txBody>
          <a:bodyPr/>
          <a:lstStyle/>
          <a:p>
            <a:r>
              <a:rPr lang="en-US"/>
              <a:t>Let’s practice some more: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25112"/>
          </a:xfrm>
        </p:spPr>
        <p:txBody>
          <a:bodyPr/>
          <a:lstStyle/>
          <a:p>
            <a:pPr marL="109728" indent="0">
              <a:buNone/>
            </a:pPr>
            <a:endParaRPr 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4" t="44507" r="23475" b="19048"/>
          <a:stretch/>
        </p:blipFill>
        <p:spPr bwMode="auto">
          <a:xfrm>
            <a:off x="152400" y="1829789"/>
            <a:ext cx="8827951" cy="4190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6180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C2C5A9D00CEA4F9D2D87607807E953" ma:contentTypeVersion="13" ma:contentTypeDescription="Create a new document." ma:contentTypeScope="" ma:versionID="590e0a48d3d858c03808e2c76993f3cf">
  <xsd:schema xmlns:xsd="http://www.w3.org/2001/XMLSchema" xmlns:xs="http://www.w3.org/2001/XMLSchema" xmlns:p="http://schemas.microsoft.com/office/2006/metadata/properties" xmlns:ns3="a797b910-cc35-46e8-90ff-6a1e0046fd87" xmlns:ns4="952d2224-4720-4718-b0dd-ec34acbcea8e" targetNamespace="http://schemas.microsoft.com/office/2006/metadata/properties" ma:root="true" ma:fieldsID="bc870211302bb92755deab584e164952" ns3:_="" ns4:_="">
    <xsd:import namespace="a797b910-cc35-46e8-90ff-6a1e0046fd87"/>
    <xsd:import namespace="952d2224-4720-4718-b0dd-ec34acbcea8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97b910-cc35-46e8-90ff-6a1e0046fd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d2224-4720-4718-b0dd-ec34acbcea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867146-49EB-4A40-90FF-E653CBE98EA5}">
  <ds:schemaRefs>
    <ds:schemaRef ds:uri="http://purl.org/dc/dcmitype/"/>
    <ds:schemaRef ds:uri="952d2224-4720-4718-b0dd-ec34acbcea8e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a797b910-cc35-46e8-90ff-6a1e0046fd87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131BB24-BB33-4F3F-B5EC-1A8CA106F9E8}">
  <ds:schemaRefs>
    <ds:schemaRef ds:uri="952d2224-4720-4718-b0dd-ec34acbcea8e"/>
    <ds:schemaRef ds:uri="a797b910-cc35-46e8-90ff-6a1e0046fd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B50A567-2331-4DD9-927F-1B15FE3290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2875</TotalTime>
  <Words>438</Words>
  <Application>Microsoft Office PowerPoint</Application>
  <PresentationFormat>On-screen Show (4:3)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Georgia</vt:lpstr>
      <vt:lpstr>Trebuchet MS</vt:lpstr>
      <vt:lpstr>Wingdings 2</vt:lpstr>
      <vt:lpstr>Urbano</vt:lpstr>
      <vt:lpstr>Amines and amides</vt:lpstr>
      <vt:lpstr>Amines</vt:lpstr>
      <vt:lpstr>Amines:  where can we find them?</vt:lpstr>
      <vt:lpstr>Amines</vt:lpstr>
      <vt:lpstr>Classify the following amines:</vt:lpstr>
      <vt:lpstr>Physical properties of amines:</vt:lpstr>
      <vt:lpstr>Solubility of amines</vt:lpstr>
      <vt:lpstr>Amine nomenclature (IUPAC)</vt:lpstr>
      <vt:lpstr>Nomenclature</vt:lpstr>
      <vt:lpstr>Nomenclature</vt:lpstr>
      <vt:lpstr>Nomenclature</vt:lpstr>
      <vt:lpstr>Nomenclature</vt:lpstr>
      <vt:lpstr>Aromatic amines nomenclature</vt:lpstr>
      <vt:lpstr>Let’s practice:</vt:lpstr>
      <vt:lpstr>Let’s practice some more: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Amines and amides</dc:title>
  <dc:creator>Brenda</dc:creator>
  <cp:lastModifiedBy>Juan Antonio Silva Rodríguez</cp:lastModifiedBy>
  <cp:revision>4</cp:revision>
  <dcterms:created xsi:type="dcterms:W3CDTF">2012-04-06T01:29:23Z</dcterms:created>
  <dcterms:modified xsi:type="dcterms:W3CDTF">2026-04-26T18:12:53Z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0x01010077C2C5A9D00CEA4F9D2D87607807E953</vt:lpwstr>
  </property>
</Properties>
</file>