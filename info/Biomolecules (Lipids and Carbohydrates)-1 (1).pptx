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0DA8B7-8B0C-48C9-B63B-CC3E29397B8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11598CE-05AC-4CBB-B0F9-974C01021249}">
      <dgm:prSet/>
      <dgm:spPr/>
      <dgm:t>
        <a:bodyPr/>
        <a:lstStyle/>
        <a:p>
          <a:r>
            <a:rPr lang="en-US"/>
            <a:t>The study of the chemistry occurring in living organisms</a:t>
          </a:r>
        </a:p>
      </dgm:t>
    </dgm:pt>
    <dgm:pt modelId="{196DACE6-B8B8-433A-9EA6-887CC7381FEE}" type="parTrans" cxnId="{B42C70C5-C556-467E-B7C5-93ADC7B6FA40}">
      <dgm:prSet/>
      <dgm:spPr/>
      <dgm:t>
        <a:bodyPr/>
        <a:lstStyle/>
        <a:p>
          <a:endParaRPr lang="en-US"/>
        </a:p>
      </dgm:t>
    </dgm:pt>
    <dgm:pt modelId="{2EC8B0AF-5CCC-455A-960D-10B69ADE61EA}" type="sibTrans" cxnId="{B42C70C5-C556-467E-B7C5-93ADC7B6FA40}">
      <dgm:prSet/>
      <dgm:spPr/>
      <dgm:t>
        <a:bodyPr/>
        <a:lstStyle/>
        <a:p>
          <a:endParaRPr lang="en-US"/>
        </a:p>
      </dgm:t>
    </dgm:pt>
    <dgm:pt modelId="{96F19A13-93D5-4D8E-9EA1-9DE9EDE5790B}">
      <dgm:prSet/>
      <dgm:spPr/>
      <dgm:t>
        <a:bodyPr/>
        <a:lstStyle/>
        <a:p>
          <a:r>
            <a:rPr lang="en-US"/>
            <a:t>Biomolecules = macromolecules</a:t>
          </a:r>
        </a:p>
      </dgm:t>
    </dgm:pt>
    <dgm:pt modelId="{6DA27DAF-1C36-4A78-ACA7-3DBC87065C99}" type="parTrans" cxnId="{9D38EC5C-2153-4E52-83DB-FA2788D5AB46}">
      <dgm:prSet/>
      <dgm:spPr/>
      <dgm:t>
        <a:bodyPr/>
        <a:lstStyle/>
        <a:p>
          <a:endParaRPr lang="en-US"/>
        </a:p>
      </dgm:t>
    </dgm:pt>
    <dgm:pt modelId="{80B3D764-9C84-418B-9F3B-65137ED1ACBE}" type="sibTrans" cxnId="{9D38EC5C-2153-4E52-83DB-FA2788D5AB46}">
      <dgm:prSet/>
      <dgm:spPr/>
      <dgm:t>
        <a:bodyPr/>
        <a:lstStyle/>
        <a:p>
          <a:endParaRPr lang="en-US"/>
        </a:p>
      </dgm:t>
    </dgm:pt>
    <dgm:pt modelId="{2C1062CE-0CAA-48F0-AE59-4A2A9F62DEF4}">
      <dgm:prSet/>
      <dgm:spPr/>
      <dgm:t>
        <a:bodyPr/>
        <a:lstStyle/>
        <a:p>
          <a:r>
            <a:rPr lang="en-US"/>
            <a:t>Very large molecules consisting of smaller, simpler molecules linked together.</a:t>
          </a:r>
        </a:p>
      </dgm:t>
    </dgm:pt>
    <dgm:pt modelId="{918E2B3C-0D7B-4566-902D-6B97D329F9A9}" type="parTrans" cxnId="{AB686E06-C11E-4BFE-A4AC-B486776882D9}">
      <dgm:prSet/>
      <dgm:spPr/>
      <dgm:t>
        <a:bodyPr/>
        <a:lstStyle/>
        <a:p>
          <a:endParaRPr lang="en-US"/>
        </a:p>
      </dgm:t>
    </dgm:pt>
    <dgm:pt modelId="{F4E678E7-A9F7-43C8-BBF6-703360DF827D}" type="sibTrans" cxnId="{AB686E06-C11E-4BFE-A4AC-B486776882D9}">
      <dgm:prSet/>
      <dgm:spPr/>
      <dgm:t>
        <a:bodyPr/>
        <a:lstStyle/>
        <a:p>
          <a:endParaRPr lang="en-US"/>
        </a:p>
      </dgm:t>
    </dgm:pt>
    <dgm:pt modelId="{083E63A5-D85E-4D86-BABC-394425216858}">
      <dgm:prSet/>
      <dgm:spPr/>
      <dgm:t>
        <a:bodyPr/>
        <a:lstStyle/>
        <a:p>
          <a:r>
            <a:rPr lang="en-US"/>
            <a:t>Major chemical components of cells:</a:t>
          </a:r>
        </a:p>
      </dgm:t>
    </dgm:pt>
    <dgm:pt modelId="{DEF7DF53-3BFB-43CB-A043-C529160FA830}" type="parTrans" cxnId="{84A9A3AB-AC00-4C2F-A4F9-29EA9AB6AB11}">
      <dgm:prSet/>
      <dgm:spPr/>
      <dgm:t>
        <a:bodyPr/>
        <a:lstStyle/>
        <a:p>
          <a:endParaRPr lang="en-US"/>
        </a:p>
      </dgm:t>
    </dgm:pt>
    <dgm:pt modelId="{46220B3D-081B-4A36-A6A2-0ED1F7219618}" type="sibTrans" cxnId="{84A9A3AB-AC00-4C2F-A4F9-29EA9AB6AB11}">
      <dgm:prSet/>
      <dgm:spPr/>
      <dgm:t>
        <a:bodyPr/>
        <a:lstStyle/>
        <a:p>
          <a:endParaRPr lang="en-US"/>
        </a:p>
      </dgm:t>
    </dgm:pt>
    <dgm:pt modelId="{87226CCE-C5D6-4C64-9794-33DDEEAEF1BF}">
      <dgm:prSet/>
      <dgm:spPr/>
      <dgm:t>
        <a:bodyPr/>
        <a:lstStyle/>
        <a:p>
          <a:r>
            <a:rPr lang="en-US"/>
            <a:t>Lipids</a:t>
          </a:r>
        </a:p>
      </dgm:t>
    </dgm:pt>
    <dgm:pt modelId="{2CC95CB5-5A86-430E-9497-8D81FD51B115}" type="parTrans" cxnId="{FDA2A847-BF7C-4881-87AB-9EF6E9EA83DD}">
      <dgm:prSet/>
      <dgm:spPr/>
      <dgm:t>
        <a:bodyPr/>
        <a:lstStyle/>
        <a:p>
          <a:endParaRPr lang="en-US"/>
        </a:p>
      </dgm:t>
    </dgm:pt>
    <dgm:pt modelId="{344B09C7-27EB-4931-BE57-52AFC52A6822}" type="sibTrans" cxnId="{FDA2A847-BF7C-4881-87AB-9EF6E9EA83DD}">
      <dgm:prSet/>
      <dgm:spPr/>
      <dgm:t>
        <a:bodyPr/>
        <a:lstStyle/>
        <a:p>
          <a:endParaRPr lang="en-US"/>
        </a:p>
      </dgm:t>
    </dgm:pt>
    <dgm:pt modelId="{E75EE037-6221-46B2-8822-CBF19B0693C1}">
      <dgm:prSet/>
      <dgm:spPr/>
      <dgm:t>
        <a:bodyPr/>
        <a:lstStyle/>
        <a:p>
          <a:r>
            <a:rPr lang="en-US"/>
            <a:t>Carbohydrates</a:t>
          </a:r>
        </a:p>
      </dgm:t>
    </dgm:pt>
    <dgm:pt modelId="{DADF2FED-F79E-4986-9448-B9C474B0B99E}" type="parTrans" cxnId="{F47B74A5-CA3E-47A4-9014-508F13A2532A}">
      <dgm:prSet/>
      <dgm:spPr/>
      <dgm:t>
        <a:bodyPr/>
        <a:lstStyle/>
        <a:p>
          <a:endParaRPr lang="en-US"/>
        </a:p>
      </dgm:t>
    </dgm:pt>
    <dgm:pt modelId="{64DF4CFB-D79E-467A-B90B-CE9C37666901}" type="sibTrans" cxnId="{F47B74A5-CA3E-47A4-9014-508F13A2532A}">
      <dgm:prSet/>
      <dgm:spPr/>
      <dgm:t>
        <a:bodyPr/>
        <a:lstStyle/>
        <a:p>
          <a:endParaRPr lang="en-US"/>
        </a:p>
      </dgm:t>
    </dgm:pt>
    <dgm:pt modelId="{F185A287-CF56-481C-ADD5-197083BD381F}">
      <dgm:prSet/>
      <dgm:spPr/>
      <dgm:t>
        <a:bodyPr/>
        <a:lstStyle/>
        <a:p>
          <a:r>
            <a:rPr lang="en-US"/>
            <a:t>Proteins</a:t>
          </a:r>
        </a:p>
      </dgm:t>
    </dgm:pt>
    <dgm:pt modelId="{7FFEDE80-EBBF-4625-82B3-678C05FC55D2}" type="parTrans" cxnId="{40C417A3-3939-4E61-A6DC-BC309B1E62A4}">
      <dgm:prSet/>
      <dgm:spPr/>
      <dgm:t>
        <a:bodyPr/>
        <a:lstStyle/>
        <a:p>
          <a:endParaRPr lang="en-US"/>
        </a:p>
      </dgm:t>
    </dgm:pt>
    <dgm:pt modelId="{3C71F380-B841-4604-8D4D-81A795E757CC}" type="sibTrans" cxnId="{40C417A3-3939-4E61-A6DC-BC309B1E62A4}">
      <dgm:prSet/>
      <dgm:spPr/>
      <dgm:t>
        <a:bodyPr/>
        <a:lstStyle/>
        <a:p>
          <a:endParaRPr lang="en-US"/>
        </a:p>
      </dgm:t>
    </dgm:pt>
    <dgm:pt modelId="{B066E3CD-DC4B-4538-8490-47BAEDAA3B21}">
      <dgm:prSet/>
      <dgm:spPr/>
      <dgm:t>
        <a:bodyPr/>
        <a:lstStyle/>
        <a:p>
          <a:r>
            <a:rPr lang="en-US"/>
            <a:t>Nucleic acids</a:t>
          </a:r>
        </a:p>
      </dgm:t>
    </dgm:pt>
    <dgm:pt modelId="{B32FDE0B-B263-4A6D-9059-6D39EDAA9E85}" type="parTrans" cxnId="{5BFAA2FD-F83C-4BF5-B374-CB25C4C59C14}">
      <dgm:prSet/>
      <dgm:spPr/>
      <dgm:t>
        <a:bodyPr/>
        <a:lstStyle/>
        <a:p>
          <a:endParaRPr lang="en-US"/>
        </a:p>
      </dgm:t>
    </dgm:pt>
    <dgm:pt modelId="{B4F44744-CA23-4413-8960-A92E7A02B791}" type="sibTrans" cxnId="{5BFAA2FD-F83C-4BF5-B374-CB25C4C59C14}">
      <dgm:prSet/>
      <dgm:spPr/>
      <dgm:t>
        <a:bodyPr/>
        <a:lstStyle/>
        <a:p>
          <a:endParaRPr lang="en-US"/>
        </a:p>
      </dgm:t>
    </dgm:pt>
    <dgm:pt modelId="{6C65C9F3-90E6-4473-B1AD-3496F1F461EA}" type="pres">
      <dgm:prSet presAssocID="{470DA8B7-8B0C-48C9-B63B-CC3E29397B82}" presName="root" presStyleCnt="0">
        <dgm:presLayoutVars>
          <dgm:dir/>
          <dgm:resizeHandles val="exact"/>
        </dgm:presLayoutVars>
      </dgm:prSet>
      <dgm:spPr/>
    </dgm:pt>
    <dgm:pt modelId="{10353457-2816-4CA5-A466-C21BB5F6D73A}" type="pres">
      <dgm:prSet presAssocID="{F11598CE-05AC-4CBB-B0F9-974C01021249}" presName="compNode" presStyleCnt="0"/>
      <dgm:spPr/>
    </dgm:pt>
    <dgm:pt modelId="{C9BA00B8-2D16-4F24-BBF6-359C05344AB1}" type="pres">
      <dgm:prSet presAssocID="{F11598CE-05AC-4CBB-B0F9-974C01021249}" presName="bgRect" presStyleLbl="bgShp" presStyleIdx="0" presStyleCnt="3"/>
      <dgm:spPr/>
    </dgm:pt>
    <dgm:pt modelId="{8A581F10-7276-4717-BD0F-649FF86EBE5D}" type="pres">
      <dgm:prSet presAssocID="{F11598CE-05AC-4CBB-B0F9-974C0102124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8F05E271-51EA-405E-B421-18AD85D059CE}" type="pres">
      <dgm:prSet presAssocID="{F11598CE-05AC-4CBB-B0F9-974C01021249}" presName="spaceRect" presStyleCnt="0"/>
      <dgm:spPr/>
    </dgm:pt>
    <dgm:pt modelId="{C3451AC7-57B8-422C-BC6D-90BEA01DF110}" type="pres">
      <dgm:prSet presAssocID="{F11598CE-05AC-4CBB-B0F9-974C01021249}" presName="parTx" presStyleLbl="revTx" presStyleIdx="0" presStyleCnt="5">
        <dgm:presLayoutVars>
          <dgm:chMax val="0"/>
          <dgm:chPref val="0"/>
        </dgm:presLayoutVars>
      </dgm:prSet>
      <dgm:spPr/>
    </dgm:pt>
    <dgm:pt modelId="{82E8AB3C-AEB3-44D5-B148-7391B5DCA7A6}" type="pres">
      <dgm:prSet presAssocID="{2EC8B0AF-5CCC-455A-960D-10B69ADE61EA}" presName="sibTrans" presStyleCnt="0"/>
      <dgm:spPr/>
    </dgm:pt>
    <dgm:pt modelId="{9B0CF83F-D2C0-4363-B851-BF7D4D41925A}" type="pres">
      <dgm:prSet presAssocID="{96F19A13-93D5-4D8E-9EA1-9DE9EDE5790B}" presName="compNode" presStyleCnt="0"/>
      <dgm:spPr/>
    </dgm:pt>
    <dgm:pt modelId="{D8B6B6FB-1539-47F6-A2F5-DEA7B704749E}" type="pres">
      <dgm:prSet presAssocID="{96F19A13-93D5-4D8E-9EA1-9DE9EDE5790B}" presName="bgRect" presStyleLbl="bgShp" presStyleIdx="1" presStyleCnt="3"/>
      <dgm:spPr/>
    </dgm:pt>
    <dgm:pt modelId="{153ACE15-ED18-4BF2-BB61-4368AA5A3A6F}" type="pres">
      <dgm:prSet presAssocID="{96F19A13-93D5-4D8E-9EA1-9DE9EDE5790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77FC22D8-2079-450E-B7EF-A14933151456}" type="pres">
      <dgm:prSet presAssocID="{96F19A13-93D5-4D8E-9EA1-9DE9EDE5790B}" presName="spaceRect" presStyleCnt="0"/>
      <dgm:spPr/>
    </dgm:pt>
    <dgm:pt modelId="{3AFF4D2D-064C-4865-A1FB-0B62C977325B}" type="pres">
      <dgm:prSet presAssocID="{96F19A13-93D5-4D8E-9EA1-9DE9EDE5790B}" presName="parTx" presStyleLbl="revTx" presStyleIdx="1" presStyleCnt="5">
        <dgm:presLayoutVars>
          <dgm:chMax val="0"/>
          <dgm:chPref val="0"/>
        </dgm:presLayoutVars>
      </dgm:prSet>
      <dgm:spPr/>
    </dgm:pt>
    <dgm:pt modelId="{C67C9DA2-7F7F-4BCA-A58A-D27F29561DD6}" type="pres">
      <dgm:prSet presAssocID="{96F19A13-93D5-4D8E-9EA1-9DE9EDE5790B}" presName="desTx" presStyleLbl="revTx" presStyleIdx="2" presStyleCnt="5">
        <dgm:presLayoutVars/>
      </dgm:prSet>
      <dgm:spPr/>
    </dgm:pt>
    <dgm:pt modelId="{68697E9A-FA85-499E-BD2F-B84F4C999BC3}" type="pres">
      <dgm:prSet presAssocID="{80B3D764-9C84-418B-9F3B-65137ED1ACBE}" presName="sibTrans" presStyleCnt="0"/>
      <dgm:spPr/>
    </dgm:pt>
    <dgm:pt modelId="{F1E9CE9A-D514-4270-B41C-397342D888FE}" type="pres">
      <dgm:prSet presAssocID="{083E63A5-D85E-4D86-BABC-394425216858}" presName="compNode" presStyleCnt="0"/>
      <dgm:spPr/>
    </dgm:pt>
    <dgm:pt modelId="{2153F857-C5E2-4353-9CF7-89D841056E52}" type="pres">
      <dgm:prSet presAssocID="{083E63A5-D85E-4D86-BABC-394425216858}" presName="bgRect" presStyleLbl="bgShp" presStyleIdx="2" presStyleCnt="3"/>
      <dgm:spPr/>
    </dgm:pt>
    <dgm:pt modelId="{91A9553C-9D87-4596-985F-3BB6CA000AA0}" type="pres">
      <dgm:prSet presAssocID="{083E63A5-D85E-4D86-BABC-39442521685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C1FC888B-3D77-4A48-9183-B926935577AA}" type="pres">
      <dgm:prSet presAssocID="{083E63A5-D85E-4D86-BABC-394425216858}" presName="spaceRect" presStyleCnt="0"/>
      <dgm:spPr/>
    </dgm:pt>
    <dgm:pt modelId="{DA03E7DE-1F39-45FD-897C-CA30A9C2E7BF}" type="pres">
      <dgm:prSet presAssocID="{083E63A5-D85E-4D86-BABC-394425216858}" presName="parTx" presStyleLbl="revTx" presStyleIdx="3" presStyleCnt="5">
        <dgm:presLayoutVars>
          <dgm:chMax val="0"/>
          <dgm:chPref val="0"/>
        </dgm:presLayoutVars>
      </dgm:prSet>
      <dgm:spPr/>
    </dgm:pt>
    <dgm:pt modelId="{702BBA5F-A01D-4C7D-AEB9-2F141387087A}" type="pres">
      <dgm:prSet presAssocID="{083E63A5-D85E-4D86-BABC-394425216858}" presName="desTx" presStyleLbl="revTx" presStyleIdx="4" presStyleCnt="5">
        <dgm:presLayoutVars/>
      </dgm:prSet>
      <dgm:spPr/>
    </dgm:pt>
  </dgm:ptLst>
  <dgm:cxnLst>
    <dgm:cxn modelId="{AB686E06-C11E-4BFE-A4AC-B486776882D9}" srcId="{96F19A13-93D5-4D8E-9EA1-9DE9EDE5790B}" destId="{2C1062CE-0CAA-48F0-AE59-4A2A9F62DEF4}" srcOrd="0" destOrd="0" parTransId="{918E2B3C-0D7B-4566-902D-6B97D329F9A9}" sibTransId="{F4E678E7-A9F7-43C8-BBF6-703360DF827D}"/>
    <dgm:cxn modelId="{30F8C20B-3C11-4403-B8C7-F2A7B4AFCC21}" type="presOf" srcId="{F185A287-CF56-481C-ADD5-197083BD381F}" destId="{702BBA5F-A01D-4C7D-AEB9-2F141387087A}" srcOrd="0" destOrd="2" presId="urn:microsoft.com/office/officeart/2018/2/layout/IconVerticalSolidList"/>
    <dgm:cxn modelId="{0186550E-BCDD-4EC5-831E-B3C4F9F6FF43}" type="presOf" srcId="{F11598CE-05AC-4CBB-B0F9-974C01021249}" destId="{C3451AC7-57B8-422C-BC6D-90BEA01DF110}" srcOrd="0" destOrd="0" presId="urn:microsoft.com/office/officeart/2018/2/layout/IconVerticalSolidList"/>
    <dgm:cxn modelId="{939DDD16-A3D2-4C56-95C3-D54866F75B79}" type="presOf" srcId="{B066E3CD-DC4B-4538-8490-47BAEDAA3B21}" destId="{702BBA5F-A01D-4C7D-AEB9-2F141387087A}" srcOrd="0" destOrd="3" presId="urn:microsoft.com/office/officeart/2018/2/layout/IconVerticalSolidList"/>
    <dgm:cxn modelId="{9AB9DF23-D3E0-4706-AC42-80D3E58B6EB6}" type="presOf" srcId="{E75EE037-6221-46B2-8822-CBF19B0693C1}" destId="{702BBA5F-A01D-4C7D-AEB9-2F141387087A}" srcOrd="0" destOrd="1" presId="urn:microsoft.com/office/officeart/2018/2/layout/IconVerticalSolidList"/>
    <dgm:cxn modelId="{040D7E36-5D73-446D-8D99-145A407D6041}" type="presOf" srcId="{96F19A13-93D5-4D8E-9EA1-9DE9EDE5790B}" destId="{3AFF4D2D-064C-4865-A1FB-0B62C977325B}" srcOrd="0" destOrd="0" presId="urn:microsoft.com/office/officeart/2018/2/layout/IconVerticalSolidList"/>
    <dgm:cxn modelId="{F7F5EF5B-1EA7-425C-8E29-E386B3E3F5B1}" type="presOf" srcId="{083E63A5-D85E-4D86-BABC-394425216858}" destId="{DA03E7DE-1F39-45FD-897C-CA30A9C2E7BF}" srcOrd="0" destOrd="0" presId="urn:microsoft.com/office/officeart/2018/2/layout/IconVerticalSolidList"/>
    <dgm:cxn modelId="{9D38EC5C-2153-4E52-83DB-FA2788D5AB46}" srcId="{470DA8B7-8B0C-48C9-B63B-CC3E29397B82}" destId="{96F19A13-93D5-4D8E-9EA1-9DE9EDE5790B}" srcOrd="1" destOrd="0" parTransId="{6DA27DAF-1C36-4A78-ACA7-3DBC87065C99}" sibTransId="{80B3D764-9C84-418B-9F3B-65137ED1ACBE}"/>
    <dgm:cxn modelId="{FDA2A847-BF7C-4881-87AB-9EF6E9EA83DD}" srcId="{083E63A5-D85E-4D86-BABC-394425216858}" destId="{87226CCE-C5D6-4C64-9794-33DDEEAEF1BF}" srcOrd="0" destOrd="0" parTransId="{2CC95CB5-5A86-430E-9497-8D81FD51B115}" sibTransId="{344B09C7-27EB-4931-BE57-52AFC52A6822}"/>
    <dgm:cxn modelId="{AE2FC476-B9D3-49C1-8244-C94A4A22D78D}" type="presOf" srcId="{87226CCE-C5D6-4C64-9794-33DDEEAEF1BF}" destId="{702BBA5F-A01D-4C7D-AEB9-2F141387087A}" srcOrd="0" destOrd="0" presId="urn:microsoft.com/office/officeart/2018/2/layout/IconVerticalSolidList"/>
    <dgm:cxn modelId="{40C417A3-3939-4E61-A6DC-BC309B1E62A4}" srcId="{083E63A5-D85E-4D86-BABC-394425216858}" destId="{F185A287-CF56-481C-ADD5-197083BD381F}" srcOrd="2" destOrd="0" parTransId="{7FFEDE80-EBBF-4625-82B3-678C05FC55D2}" sibTransId="{3C71F380-B841-4604-8D4D-81A795E757CC}"/>
    <dgm:cxn modelId="{F47B74A5-CA3E-47A4-9014-508F13A2532A}" srcId="{083E63A5-D85E-4D86-BABC-394425216858}" destId="{E75EE037-6221-46B2-8822-CBF19B0693C1}" srcOrd="1" destOrd="0" parTransId="{DADF2FED-F79E-4986-9448-B9C474B0B99E}" sibTransId="{64DF4CFB-D79E-467A-B90B-CE9C37666901}"/>
    <dgm:cxn modelId="{32F6F5AA-85DB-4769-B8EC-AA93C441B171}" type="presOf" srcId="{470DA8B7-8B0C-48C9-B63B-CC3E29397B82}" destId="{6C65C9F3-90E6-4473-B1AD-3496F1F461EA}" srcOrd="0" destOrd="0" presId="urn:microsoft.com/office/officeart/2018/2/layout/IconVerticalSolidList"/>
    <dgm:cxn modelId="{84A9A3AB-AC00-4C2F-A4F9-29EA9AB6AB11}" srcId="{470DA8B7-8B0C-48C9-B63B-CC3E29397B82}" destId="{083E63A5-D85E-4D86-BABC-394425216858}" srcOrd="2" destOrd="0" parTransId="{DEF7DF53-3BFB-43CB-A043-C529160FA830}" sibTransId="{46220B3D-081B-4A36-A6A2-0ED1F7219618}"/>
    <dgm:cxn modelId="{B42C70C5-C556-467E-B7C5-93ADC7B6FA40}" srcId="{470DA8B7-8B0C-48C9-B63B-CC3E29397B82}" destId="{F11598CE-05AC-4CBB-B0F9-974C01021249}" srcOrd="0" destOrd="0" parTransId="{196DACE6-B8B8-433A-9EA6-887CC7381FEE}" sibTransId="{2EC8B0AF-5CCC-455A-960D-10B69ADE61EA}"/>
    <dgm:cxn modelId="{9932F8EE-8949-404E-84B3-2A88CC0B6955}" type="presOf" srcId="{2C1062CE-0CAA-48F0-AE59-4A2A9F62DEF4}" destId="{C67C9DA2-7F7F-4BCA-A58A-D27F29561DD6}" srcOrd="0" destOrd="0" presId="urn:microsoft.com/office/officeart/2018/2/layout/IconVerticalSolidList"/>
    <dgm:cxn modelId="{5BFAA2FD-F83C-4BF5-B374-CB25C4C59C14}" srcId="{083E63A5-D85E-4D86-BABC-394425216858}" destId="{B066E3CD-DC4B-4538-8490-47BAEDAA3B21}" srcOrd="3" destOrd="0" parTransId="{B32FDE0B-B263-4A6D-9059-6D39EDAA9E85}" sibTransId="{B4F44744-CA23-4413-8960-A92E7A02B791}"/>
    <dgm:cxn modelId="{7FEADC7B-6C6E-4A4F-AE20-9992A11B3F65}" type="presParOf" srcId="{6C65C9F3-90E6-4473-B1AD-3496F1F461EA}" destId="{10353457-2816-4CA5-A466-C21BB5F6D73A}" srcOrd="0" destOrd="0" presId="urn:microsoft.com/office/officeart/2018/2/layout/IconVerticalSolidList"/>
    <dgm:cxn modelId="{DEF2E2F6-2075-41FD-BB7B-DCBC106A6AED}" type="presParOf" srcId="{10353457-2816-4CA5-A466-C21BB5F6D73A}" destId="{C9BA00B8-2D16-4F24-BBF6-359C05344AB1}" srcOrd="0" destOrd="0" presId="urn:microsoft.com/office/officeart/2018/2/layout/IconVerticalSolidList"/>
    <dgm:cxn modelId="{7BD5F948-150C-42C7-B144-A2A636715075}" type="presParOf" srcId="{10353457-2816-4CA5-A466-C21BB5F6D73A}" destId="{8A581F10-7276-4717-BD0F-649FF86EBE5D}" srcOrd="1" destOrd="0" presId="urn:microsoft.com/office/officeart/2018/2/layout/IconVerticalSolidList"/>
    <dgm:cxn modelId="{024ECC92-C81C-4A2B-84F3-F9E490A2748E}" type="presParOf" srcId="{10353457-2816-4CA5-A466-C21BB5F6D73A}" destId="{8F05E271-51EA-405E-B421-18AD85D059CE}" srcOrd="2" destOrd="0" presId="urn:microsoft.com/office/officeart/2018/2/layout/IconVerticalSolidList"/>
    <dgm:cxn modelId="{17881580-1E1A-4924-958C-4D6F1471E307}" type="presParOf" srcId="{10353457-2816-4CA5-A466-C21BB5F6D73A}" destId="{C3451AC7-57B8-422C-BC6D-90BEA01DF110}" srcOrd="3" destOrd="0" presId="urn:microsoft.com/office/officeart/2018/2/layout/IconVerticalSolidList"/>
    <dgm:cxn modelId="{642D2C9A-0F17-47BE-9D9C-83DCAF8DAD44}" type="presParOf" srcId="{6C65C9F3-90E6-4473-B1AD-3496F1F461EA}" destId="{82E8AB3C-AEB3-44D5-B148-7391B5DCA7A6}" srcOrd="1" destOrd="0" presId="urn:microsoft.com/office/officeart/2018/2/layout/IconVerticalSolidList"/>
    <dgm:cxn modelId="{4462692A-405A-4EAE-B18C-776666F884CE}" type="presParOf" srcId="{6C65C9F3-90E6-4473-B1AD-3496F1F461EA}" destId="{9B0CF83F-D2C0-4363-B851-BF7D4D41925A}" srcOrd="2" destOrd="0" presId="urn:microsoft.com/office/officeart/2018/2/layout/IconVerticalSolidList"/>
    <dgm:cxn modelId="{DA0588CB-7597-418F-9BB2-6B39C7FBDA49}" type="presParOf" srcId="{9B0CF83F-D2C0-4363-B851-BF7D4D41925A}" destId="{D8B6B6FB-1539-47F6-A2F5-DEA7B704749E}" srcOrd="0" destOrd="0" presId="urn:microsoft.com/office/officeart/2018/2/layout/IconVerticalSolidList"/>
    <dgm:cxn modelId="{06D6BF17-F11C-40FB-810F-E9AA7B895F6D}" type="presParOf" srcId="{9B0CF83F-D2C0-4363-B851-BF7D4D41925A}" destId="{153ACE15-ED18-4BF2-BB61-4368AA5A3A6F}" srcOrd="1" destOrd="0" presId="urn:microsoft.com/office/officeart/2018/2/layout/IconVerticalSolidList"/>
    <dgm:cxn modelId="{3A1C004A-19BB-4041-94DF-4C63289A6792}" type="presParOf" srcId="{9B0CF83F-D2C0-4363-B851-BF7D4D41925A}" destId="{77FC22D8-2079-450E-B7EF-A14933151456}" srcOrd="2" destOrd="0" presId="urn:microsoft.com/office/officeart/2018/2/layout/IconVerticalSolidList"/>
    <dgm:cxn modelId="{C81AE82F-2722-4A6F-8FD0-D3C6A269466E}" type="presParOf" srcId="{9B0CF83F-D2C0-4363-B851-BF7D4D41925A}" destId="{3AFF4D2D-064C-4865-A1FB-0B62C977325B}" srcOrd="3" destOrd="0" presId="urn:microsoft.com/office/officeart/2018/2/layout/IconVerticalSolidList"/>
    <dgm:cxn modelId="{0C89292E-4690-4AE3-9AE9-1C37A5E689A5}" type="presParOf" srcId="{9B0CF83F-D2C0-4363-B851-BF7D4D41925A}" destId="{C67C9DA2-7F7F-4BCA-A58A-D27F29561DD6}" srcOrd="4" destOrd="0" presId="urn:microsoft.com/office/officeart/2018/2/layout/IconVerticalSolidList"/>
    <dgm:cxn modelId="{8F467E34-DE1F-42DF-BF7D-BF9FF4F57BF2}" type="presParOf" srcId="{6C65C9F3-90E6-4473-B1AD-3496F1F461EA}" destId="{68697E9A-FA85-499E-BD2F-B84F4C999BC3}" srcOrd="3" destOrd="0" presId="urn:microsoft.com/office/officeart/2018/2/layout/IconVerticalSolidList"/>
    <dgm:cxn modelId="{5E0F55F5-83F2-4F3C-A7CE-3B2F3187ABEA}" type="presParOf" srcId="{6C65C9F3-90E6-4473-B1AD-3496F1F461EA}" destId="{F1E9CE9A-D514-4270-B41C-397342D888FE}" srcOrd="4" destOrd="0" presId="urn:microsoft.com/office/officeart/2018/2/layout/IconVerticalSolidList"/>
    <dgm:cxn modelId="{949AC3EC-1272-4AFF-82B5-E1932476EC48}" type="presParOf" srcId="{F1E9CE9A-D514-4270-B41C-397342D888FE}" destId="{2153F857-C5E2-4353-9CF7-89D841056E52}" srcOrd="0" destOrd="0" presId="urn:microsoft.com/office/officeart/2018/2/layout/IconVerticalSolidList"/>
    <dgm:cxn modelId="{CC94B369-6F1E-4943-8589-44D4C04BFEC9}" type="presParOf" srcId="{F1E9CE9A-D514-4270-B41C-397342D888FE}" destId="{91A9553C-9D87-4596-985F-3BB6CA000AA0}" srcOrd="1" destOrd="0" presId="urn:microsoft.com/office/officeart/2018/2/layout/IconVerticalSolidList"/>
    <dgm:cxn modelId="{DCFB6603-67D5-4EF5-B265-3F3DC25CAA7F}" type="presParOf" srcId="{F1E9CE9A-D514-4270-B41C-397342D888FE}" destId="{C1FC888B-3D77-4A48-9183-B926935577AA}" srcOrd="2" destOrd="0" presId="urn:microsoft.com/office/officeart/2018/2/layout/IconVerticalSolidList"/>
    <dgm:cxn modelId="{A44B00FF-E891-4F25-BA67-EBE48EAC8F76}" type="presParOf" srcId="{F1E9CE9A-D514-4270-B41C-397342D888FE}" destId="{DA03E7DE-1F39-45FD-897C-CA30A9C2E7BF}" srcOrd="3" destOrd="0" presId="urn:microsoft.com/office/officeart/2018/2/layout/IconVerticalSolidList"/>
    <dgm:cxn modelId="{7F2C2FB9-FDFA-4AD3-A3F9-FE2E705F72A9}" type="presParOf" srcId="{F1E9CE9A-D514-4270-B41C-397342D888FE}" destId="{702BBA5F-A01D-4C7D-AEB9-2F141387087A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A00B8-2D16-4F24-BBF6-359C05344AB1}">
      <dsp:nvSpPr>
        <dsp:cNvPr id="0" name=""/>
        <dsp:cNvSpPr/>
      </dsp:nvSpPr>
      <dsp:spPr>
        <a:xfrm>
          <a:off x="0" y="718"/>
          <a:ext cx="6513603" cy="16811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81F10-7276-4717-BD0F-649FF86EBE5D}">
      <dsp:nvSpPr>
        <dsp:cNvPr id="0" name=""/>
        <dsp:cNvSpPr/>
      </dsp:nvSpPr>
      <dsp:spPr>
        <a:xfrm>
          <a:off x="508544" y="378974"/>
          <a:ext cx="924626" cy="9246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51AC7-57B8-422C-BC6D-90BEA01DF110}">
      <dsp:nvSpPr>
        <dsp:cNvPr id="0" name=""/>
        <dsp:cNvSpPr/>
      </dsp:nvSpPr>
      <dsp:spPr>
        <a:xfrm>
          <a:off x="1941716" y="718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study of the chemistry occurring in living organisms</a:t>
          </a:r>
        </a:p>
      </dsp:txBody>
      <dsp:txXfrm>
        <a:off x="1941716" y="718"/>
        <a:ext cx="4571887" cy="1681139"/>
      </dsp:txXfrm>
    </dsp:sp>
    <dsp:sp modelId="{D8B6B6FB-1539-47F6-A2F5-DEA7B704749E}">
      <dsp:nvSpPr>
        <dsp:cNvPr id="0" name=""/>
        <dsp:cNvSpPr/>
      </dsp:nvSpPr>
      <dsp:spPr>
        <a:xfrm>
          <a:off x="0" y="2102143"/>
          <a:ext cx="6513603" cy="16811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3ACE15-ED18-4BF2-BB61-4368AA5A3A6F}">
      <dsp:nvSpPr>
        <dsp:cNvPr id="0" name=""/>
        <dsp:cNvSpPr/>
      </dsp:nvSpPr>
      <dsp:spPr>
        <a:xfrm>
          <a:off x="508544" y="2480399"/>
          <a:ext cx="924626" cy="9246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F4D2D-064C-4865-A1FB-0B62C977325B}">
      <dsp:nvSpPr>
        <dsp:cNvPr id="0" name=""/>
        <dsp:cNvSpPr/>
      </dsp:nvSpPr>
      <dsp:spPr>
        <a:xfrm>
          <a:off x="1941716" y="2102143"/>
          <a:ext cx="2931121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Biomolecules = macromolecules</a:t>
          </a:r>
        </a:p>
      </dsp:txBody>
      <dsp:txXfrm>
        <a:off x="1941716" y="2102143"/>
        <a:ext cx="2931121" cy="1681139"/>
      </dsp:txXfrm>
    </dsp:sp>
    <dsp:sp modelId="{C67C9DA2-7F7F-4BCA-A58A-D27F29561DD6}">
      <dsp:nvSpPr>
        <dsp:cNvPr id="0" name=""/>
        <dsp:cNvSpPr/>
      </dsp:nvSpPr>
      <dsp:spPr>
        <a:xfrm>
          <a:off x="4872838" y="2102143"/>
          <a:ext cx="1640765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Very large molecules consisting of smaller, simpler molecules linked together.</a:t>
          </a:r>
        </a:p>
      </dsp:txBody>
      <dsp:txXfrm>
        <a:off x="4872838" y="2102143"/>
        <a:ext cx="1640765" cy="1681139"/>
      </dsp:txXfrm>
    </dsp:sp>
    <dsp:sp modelId="{2153F857-C5E2-4353-9CF7-89D841056E52}">
      <dsp:nvSpPr>
        <dsp:cNvPr id="0" name=""/>
        <dsp:cNvSpPr/>
      </dsp:nvSpPr>
      <dsp:spPr>
        <a:xfrm>
          <a:off x="0" y="4203567"/>
          <a:ext cx="6513603" cy="16811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A9553C-9D87-4596-985F-3BB6CA000AA0}">
      <dsp:nvSpPr>
        <dsp:cNvPr id="0" name=""/>
        <dsp:cNvSpPr/>
      </dsp:nvSpPr>
      <dsp:spPr>
        <a:xfrm>
          <a:off x="508544" y="4581824"/>
          <a:ext cx="924626" cy="9246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3E7DE-1F39-45FD-897C-CA30A9C2E7BF}">
      <dsp:nvSpPr>
        <dsp:cNvPr id="0" name=""/>
        <dsp:cNvSpPr/>
      </dsp:nvSpPr>
      <dsp:spPr>
        <a:xfrm>
          <a:off x="1941716" y="4203567"/>
          <a:ext cx="2931121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Major chemical components of cells:</a:t>
          </a:r>
        </a:p>
      </dsp:txBody>
      <dsp:txXfrm>
        <a:off x="1941716" y="4203567"/>
        <a:ext cx="2931121" cy="1681139"/>
      </dsp:txXfrm>
    </dsp:sp>
    <dsp:sp modelId="{702BBA5F-A01D-4C7D-AEB9-2F141387087A}">
      <dsp:nvSpPr>
        <dsp:cNvPr id="0" name=""/>
        <dsp:cNvSpPr/>
      </dsp:nvSpPr>
      <dsp:spPr>
        <a:xfrm>
          <a:off x="4872838" y="4203567"/>
          <a:ext cx="1640765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Lipids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Carbohydrates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Proteins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Nucleic acids</a:t>
          </a:r>
        </a:p>
      </dsp:txBody>
      <dsp:txXfrm>
        <a:off x="4872838" y="4203567"/>
        <a:ext cx="1640765" cy="1681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F72DA-9703-4619-9533-746B37BCA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9703CD-4EC8-4A7F-BBC4-9B614B0FE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632705-09BA-4751-8A10-A6C6F16B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4A5F28-0D00-4883-8AB5-D3EEA8B6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D9FAB2-27C1-4A27-80A7-7DC4BA85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539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B96CA-BAD3-42F2-8C8A-B14E4497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EA691-237F-4472-A98A-F7BB3EB07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7EBF6C-A1B5-4668-AA5F-192B8573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D874E2-3965-4950-ACFC-7B2C27815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A99F3A-D876-48A4-81A3-D7552C40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460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79DAF-7C49-457F-BFF9-D47B748A5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B29F0C-FC59-4583-BF5F-F8430E112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398093-3DBD-4576-8DA6-83755679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5686D5-7C99-45AC-BD94-AFC777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944CBA-10DC-465E-8B2C-A2F056A90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186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5DB14-B663-4C7C-B044-0BC560E8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0F93AE-7940-4555-ACE4-5B363351F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8E4219-092C-45DC-B130-8ED27ED09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AE49AA-C5F2-4EE7-81E4-A83E6ABF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5CC21B-E2A6-4174-A30D-E27BB29CD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9006F8-8A75-43FB-AA27-7B50280A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0763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39342-60E9-447A-AE0B-D2656E8C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E75AED-202A-4B3F-B414-A9B937E29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64D950-2BA0-4649-93E6-20CC1A697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9992EB-6FA6-4A66-A983-BB30596C2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B423DA-CCF0-4EA5-B5CE-1D6C608B9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2AD0F3-CDBB-493B-9555-9F934E85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78D2878-CC4C-4A4F-B379-16792C2F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13EC61-D8C8-4D85-AFD4-3C98A475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9016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31F45-188B-4B79-8EF9-2B77DEA6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AED15A-71A0-4B39-B631-1E98D3D9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2D7970-310C-4997-A6D2-9B31E343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CAB71E-B5AF-4588-8238-28B163A6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6936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703F7FB-1EB1-49E5-A477-99589C69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87FF048-8F93-400E-8B97-39E454F6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374698-11DD-42D9-A9BE-CE831BD5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690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B8D07-436B-4842-8D44-7E7F331DA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4FEFA8-3792-4D88-9E8A-058AD939D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65F19B-F24B-4ABF-8E49-69DFC369B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937117-CEF6-4092-90A0-58F58F71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94A3FF-924E-4EC6-B9E2-FEC92E52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8D703-F751-4195-8809-4C833AEF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861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9890D-1F44-4357-A19C-E5F59931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D75FAA-B4D6-45AA-8904-D0B5B137E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037DCD-E566-44FC-9D79-65DE05F76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2F334B-1F60-47B6-BAA6-56AD88F73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6733F3-BB7F-498B-B305-7A04EB88F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7414D3-46A2-4CAB-B5BA-5B8D0EA0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2756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2D155-0DA4-4736-BAA0-87BB1EF9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E2DCC2-521B-4604-A4D7-F92F6478E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FA730B-1AB7-4205-855E-1F0958440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56FFFE-B418-4ABD-A118-E21DB1DF0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66812D-9788-406A-9D9A-AB03D25B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8007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F1FFBE-2EC0-4AA0-92FA-546941C0D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E51C58-D762-4088-BBC2-F89BAB3F7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501980-D915-4E56-9A6B-5B16A921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93BD70-02CF-4AA0-88FC-DD166AE09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17BA3A-BE1A-46A2-B8DD-6711C16C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475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AD6C536-46BA-411E-A5BF-C508E2ECF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6DBB4E-11EA-4E45-B868-675DE29A0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A32846-7F9B-4517-B009-65E78043A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16145-51D1-4E2E-BEB2-B9017FCD930C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7757D9-496A-4021-8FE1-B93D0D34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FBB5A6-46C6-4742-B39F-4F268A42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D55F7-2788-4708-AF99-580BD43D832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543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33136" y="5091762"/>
            <a:ext cx="7834193" cy="1264588"/>
          </a:xfrm>
        </p:spPr>
        <p:txBody>
          <a:bodyPr anchor="ctr">
            <a:normAutofit/>
          </a:bodyPr>
          <a:lstStyle/>
          <a:p>
            <a:pPr algn="r"/>
            <a:r>
              <a:rPr lang="en-US"/>
              <a:t>Biomolecules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499107" y="5091763"/>
            <a:ext cx="2974207" cy="1264587"/>
          </a:xfrm>
        </p:spPr>
        <p:txBody>
          <a:bodyPr anchor="ctr">
            <a:normAutofit/>
          </a:bodyPr>
          <a:lstStyle/>
          <a:p>
            <a:pPr algn="l"/>
            <a:r>
              <a:rPr lang="en-US" sz="2000" dirty="0"/>
              <a:t>April 2022</a:t>
            </a:r>
          </a:p>
        </p:txBody>
      </p:sp>
      <p:pic>
        <p:nvPicPr>
          <p:cNvPr id="4" name="Picture 2" descr="Resultado de imagen para biomolecules">
            <a:extLst>
              <a:ext uri="{FF2B5EF4-FFF2-40B4-BE49-F238E27FC236}">
                <a16:creationId xmlns:a16="http://schemas.microsoft.com/office/drawing/2014/main" id="{1B0E08B7-DA18-4C50-A100-7DFABECB26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0" b="17714"/>
          <a:stretch/>
        </p:blipFill>
        <p:spPr bwMode="auto">
          <a:xfrm>
            <a:off x="-3983" y="10"/>
            <a:ext cx="12192000" cy="457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26E481-B945-4179-BD79-05E96E9B2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23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Biochemistry</a:t>
            </a:r>
          </a:p>
        </p:txBody>
      </p:sp>
      <p:graphicFrame>
        <p:nvGraphicFramePr>
          <p:cNvPr id="5" name="2 Marcador de contenido">
            <a:extLst>
              <a:ext uri="{FF2B5EF4-FFF2-40B4-BE49-F238E27FC236}">
                <a16:creationId xmlns:a16="http://schemas.microsoft.com/office/drawing/2014/main" id="{1F05ACBE-8DAD-4B0D-85BA-347BC7EC53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72825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1121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Lipids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38200" y="1579880"/>
            <a:ext cx="4888992" cy="4800600"/>
          </a:xfrm>
        </p:spPr>
        <p:txBody>
          <a:bodyPr>
            <a:normAutofit/>
          </a:bodyPr>
          <a:lstStyle/>
          <a:p>
            <a:r>
              <a:rPr lang="en-US" dirty="0"/>
              <a:t>Chemical components of the cell that are insoluble in water but soluble in nonpolar solvents.</a:t>
            </a:r>
          </a:p>
          <a:p>
            <a:r>
              <a:rPr lang="en-US" dirty="0"/>
              <a:t>Insolubility in water makes them ideal as structural components of cell membranes.</a:t>
            </a:r>
          </a:p>
          <a:p>
            <a:r>
              <a:rPr lang="en-US" dirty="0"/>
              <a:t>Lipids are also used for long-term energy storage and for insulation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1495426" y="6231265"/>
            <a:ext cx="96012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Fatty acids – Fats – Oils – Phospholipids – Glycolipids - Steroids</a:t>
            </a:r>
          </a:p>
        </p:txBody>
      </p:sp>
      <p:pic>
        <p:nvPicPr>
          <p:cNvPr id="5" name="Picture 2" descr="Resultado de imagen para cell membrane">
            <a:extLst>
              <a:ext uri="{FF2B5EF4-FFF2-40B4-BE49-F238E27FC236}">
                <a16:creationId xmlns:a16="http://schemas.microsoft.com/office/drawing/2014/main" id="{3824B724-53B6-4B2D-93C5-919530358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7998"/>
            <a:ext cx="5590538" cy="458449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586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D412AD-9CF4-4510-97DC-34D6CC830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643467" y="691992"/>
            <a:ext cx="4025724" cy="552254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72055" y="1019503"/>
            <a:ext cx="3147848" cy="2065283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Lipids: Fatty acids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2056" y="3247283"/>
            <a:ext cx="3147848" cy="222860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A fatty acid is a carboxylic acid with a long hydrocarbon tail. </a:t>
            </a:r>
          </a:p>
          <a:p>
            <a:r>
              <a:rPr lang="en-US" sz="1800" dirty="0">
                <a:solidFill>
                  <a:srgbClr val="FFFFFF"/>
                </a:solidFill>
              </a:rPr>
              <a:t>The hydrocarbon tail must contain from 3-19 carbons.</a:t>
            </a:r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876172"/>
              </p:ext>
            </p:extLst>
          </p:nvPr>
        </p:nvGraphicFramePr>
        <p:xfrm>
          <a:off x="5216539" y="1652414"/>
          <a:ext cx="6331994" cy="36240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08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7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047">
                <a:tc>
                  <a:txBody>
                    <a:bodyPr/>
                    <a:lstStyle/>
                    <a:p>
                      <a:r>
                        <a:rPr lang="en-US" sz="1900"/>
                        <a:t>Name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Number of</a:t>
                      </a:r>
                      <a:r>
                        <a:rPr lang="en-US" sz="1900" baseline="0"/>
                        <a:t> C’s</a:t>
                      </a:r>
                      <a:endParaRPr lang="en-US" sz="1900"/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Sources</a:t>
                      </a:r>
                    </a:p>
                  </a:txBody>
                  <a:tcPr marL="94871" marR="94871" marT="47436" marB="47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434">
                <a:tc>
                  <a:txBody>
                    <a:bodyPr/>
                    <a:lstStyle/>
                    <a:p>
                      <a:r>
                        <a:rPr lang="en-US" sz="1900"/>
                        <a:t>Butyric acid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4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Milk fat</a:t>
                      </a:r>
                    </a:p>
                  </a:txBody>
                  <a:tcPr marL="94871" marR="94871" marT="47436" marB="47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434">
                <a:tc>
                  <a:txBody>
                    <a:bodyPr/>
                    <a:lstStyle/>
                    <a:p>
                      <a:r>
                        <a:rPr lang="en-US" sz="1900"/>
                        <a:t>Caproic acid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10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Milk fat, whale oil</a:t>
                      </a:r>
                    </a:p>
                  </a:txBody>
                  <a:tcPr marL="94871" marR="94871" marT="47436" marB="47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434">
                <a:tc>
                  <a:txBody>
                    <a:bodyPr/>
                    <a:lstStyle/>
                    <a:p>
                      <a:r>
                        <a:rPr lang="en-US" sz="1900"/>
                        <a:t>Myristic acid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14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Butterfat, coconut oil</a:t>
                      </a:r>
                    </a:p>
                  </a:txBody>
                  <a:tcPr marL="94871" marR="94871" marT="47436" marB="47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434">
                <a:tc>
                  <a:txBody>
                    <a:bodyPr/>
                    <a:lstStyle/>
                    <a:p>
                      <a:r>
                        <a:rPr lang="en-US" sz="1900"/>
                        <a:t>Palmitic acid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16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Beef</a:t>
                      </a:r>
                      <a:r>
                        <a:rPr lang="en-US" sz="1900" baseline="0"/>
                        <a:t> fat, butterfat</a:t>
                      </a:r>
                      <a:endParaRPr lang="en-US" sz="1900"/>
                    </a:p>
                  </a:txBody>
                  <a:tcPr marL="94871" marR="94871" marT="47436" marB="47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434">
                <a:tc>
                  <a:txBody>
                    <a:bodyPr/>
                    <a:lstStyle/>
                    <a:p>
                      <a:r>
                        <a:rPr lang="en-US" sz="1900"/>
                        <a:t>Stearic acid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18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Beef fat, butterfat</a:t>
                      </a:r>
                    </a:p>
                  </a:txBody>
                  <a:tcPr marL="94871" marR="94871" marT="47436" marB="4743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434">
                <a:tc>
                  <a:txBody>
                    <a:bodyPr/>
                    <a:lstStyle/>
                    <a:p>
                      <a:r>
                        <a:rPr lang="en-US" sz="1900"/>
                        <a:t>Oleic acid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18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Olive</a:t>
                      </a:r>
                      <a:r>
                        <a:rPr lang="en-US" sz="1900" baseline="0"/>
                        <a:t> oil, peanut oil</a:t>
                      </a:r>
                      <a:endParaRPr lang="en-US" sz="1900"/>
                    </a:p>
                  </a:txBody>
                  <a:tcPr marL="94871" marR="94871" marT="47436" marB="4743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434">
                <a:tc>
                  <a:txBody>
                    <a:bodyPr/>
                    <a:lstStyle/>
                    <a:p>
                      <a:r>
                        <a:rPr lang="en-US" sz="1900"/>
                        <a:t>Linoleic acid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18</a:t>
                      </a:r>
                    </a:p>
                  </a:txBody>
                  <a:tcPr marL="94871" marR="94871" marT="47436" marB="47436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Linseed oil, corn oil</a:t>
                      </a:r>
                    </a:p>
                  </a:txBody>
                  <a:tcPr marL="94871" marR="94871" marT="47436" marB="4743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402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Lipids: Fatty acids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/>
              <a:t>Fatty acids are found in oils and other fats that make up different foods. </a:t>
            </a:r>
          </a:p>
          <a:p>
            <a:r>
              <a:rPr lang="en-US" dirty="0"/>
              <a:t>Needed for: </a:t>
            </a:r>
          </a:p>
          <a:p>
            <a:pPr lvl="1"/>
            <a:r>
              <a:rPr lang="en-US" dirty="0"/>
              <a:t>Moving O</a:t>
            </a:r>
            <a:r>
              <a:rPr lang="en-US" baseline="-25000" dirty="0"/>
              <a:t>2</a:t>
            </a:r>
            <a:r>
              <a:rPr lang="en-US" dirty="0"/>
              <a:t> through the bloodstream to all parts of the body.</a:t>
            </a:r>
          </a:p>
          <a:p>
            <a:pPr lvl="1"/>
            <a:r>
              <a:rPr lang="en-US" dirty="0"/>
              <a:t>Cell membrane development, strength and function.</a:t>
            </a:r>
          </a:p>
          <a:p>
            <a:pPr lvl="1"/>
            <a:r>
              <a:rPr lang="en-US" dirty="0"/>
              <a:t>Strong organs and tissues. </a:t>
            </a:r>
          </a:p>
          <a:p>
            <a:endParaRPr lang="en-US" dirty="0"/>
          </a:p>
        </p:txBody>
      </p:sp>
      <p:sp>
        <p:nvSpPr>
          <p:cNvPr id="4" name="3 CuadroTexto"/>
          <p:cNvSpPr txBox="1"/>
          <p:nvPr/>
        </p:nvSpPr>
        <p:spPr>
          <a:xfrm>
            <a:off x="6290546" y="4262209"/>
            <a:ext cx="513245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100" dirty="0"/>
              <a:t>Fatty acids can also help keep 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</a:rPr>
              <a:t>skin healthy</a:t>
            </a:r>
            <a:r>
              <a:rPr lang="en-US" sz="2100" dirty="0"/>
              <a:t>, help 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</a:rPr>
              <a:t>prevent early aging</a:t>
            </a:r>
            <a:r>
              <a:rPr lang="en-US" sz="2100" dirty="0"/>
              <a:t>, and may 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</a:rPr>
              <a:t>promote weight loss</a:t>
            </a:r>
            <a:r>
              <a:rPr lang="en-US" sz="2100" b="1" dirty="0"/>
              <a:t> </a:t>
            </a:r>
            <a:r>
              <a:rPr lang="en-US" sz="2100" dirty="0"/>
              <a:t>by helping the body process cholesterol. 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100" dirty="0"/>
              <a:t>Another purpose of fatty acids is to 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</a:rPr>
              <a:t>assist the adrenal and thyroid glands</a:t>
            </a:r>
            <a:r>
              <a:rPr lang="en-US" sz="2100" dirty="0"/>
              <a:t>, which may also help regulate weight. </a:t>
            </a:r>
          </a:p>
        </p:txBody>
      </p:sp>
      <p:pic>
        <p:nvPicPr>
          <p:cNvPr id="5" name="Picture 2" descr="Resultado de imagen para omega 3 fatty acids">
            <a:extLst>
              <a:ext uri="{FF2B5EF4-FFF2-40B4-BE49-F238E27FC236}">
                <a16:creationId xmlns:a16="http://schemas.microsoft.com/office/drawing/2014/main" id="{DC8932AE-E462-4AD6-A044-257FBFFF2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222" y="272335"/>
            <a:ext cx="3844054" cy="384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424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>
                <a:solidFill>
                  <a:srgbClr val="FFFFFF"/>
                </a:solidFill>
              </a:rPr>
              <a:t>Lipids: fats and oils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544278" y="1645723"/>
            <a:ext cx="9144000" cy="420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>
                <a:solidFill>
                  <a:srgbClr val="2A2EE9"/>
                </a:solidFill>
              </a:rPr>
              <a:t>Fats and oils are triglycerides (triesters)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http://revisionworld.co.uk/files/triglycerid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567" y="2509246"/>
            <a:ext cx="5455917" cy="383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Resultado de imagen para fats and oils">
            <a:extLst>
              <a:ext uri="{FF2B5EF4-FFF2-40B4-BE49-F238E27FC236}">
                <a16:creationId xmlns:a16="http://schemas.microsoft.com/office/drawing/2014/main" id="{D351F461-690C-4662-89D0-59E11B29E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472" y="2248060"/>
            <a:ext cx="4327768" cy="432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39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anchor="b">
            <a:normAutofit/>
          </a:bodyPr>
          <a:lstStyle/>
          <a:p>
            <a:r>
              <a:rPr lang="en-US" b="1" dirty="0"/>
              <a:t>Other lipids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9B7FDC9-F0CE-43A7-9F2A-83DD09DC3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7624" y="2265037"/>
            <a:ext cx="10125012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http://alevelnotes.com/content_images/i39_9296350411458926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150" y="2811103"/>
            <a:ext cx="4042353" cy="322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955354" y="2682433"/>
            <a:ext cx="6282169" cy="3775516"/>
          </a:xfrm>
        </p:spPr>
        <p:txBody>
          <a:bodyPr>
            <a:normAutofit/>
          </a:bodyPr>
          <a:lstStyle/>
          <a:p>
            <a:r>
              <a:rPr lang="en-US" sz="2400" dirty="0"/>
              <a:t>Other lipids found in cells include phospholipids, glycolipids and steroids</a:t>
            </a:r>
          </a:p>
          <a:p>
            <a:r>
              <a:rPr lang="en-US" sz="2400" b="1" dirty="0"/>
              <a:t>Phospholipids</a:t>
            </a:r>
            <a:r>
              <a:rPr lang="en-US" sz="2400" dirty="0"/>
              <a:t> have the same structure as triglycerides, except that it is replaced by a phosphate group.</a:t>
            </a:r>
          </a:p>
          <a:p>
            <a:r>
              <a:rPr lang="en-US" sz="2400" dirty="0"/>
              <a:t>Polar part: </a:t>
            </a:r>
          </a:p>
          <a:p>
            <a:pPr lvl="1"/>
            <a:r>
              <a:rPr lang="en-US" dirty="0"/>
              <a:t>phosphate groups</a:t>
            </a:r>
          </a:p>
          <a:p>
            <a:r>
              <a:rPr lang="en-US" sz="2400" dirty="0"/>
              <a:t>Nonpolar part: </a:t>
            </a:r>
          </a:p>
          <a:p>
            <a:pPr lvl="1"/>
            <a:r>
              <a:rPr lang="en-US" dirty="0"/>
              <a:t>hydrocarbon chain</a:t>
            </a:r>
          </a:p>
        </p:txBody>
      </p:sp>
    </p:spTree>
    <p:extLst>
      <p:ext uri="{BB962C8B-B14F-4D97-AF65-F5344CB8AC3E}">
        <p14:creationId xmlns:p14="http://schemas.microsoft.com/office/powerpoint/2010/main" val="171683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514292" y="513612"/>
            <a:ext cx="9894133" cy="1031216"/>
          </a:xfrm>
        </p:spPr>
        <p:txBody>
          <a:bodyPr anchor="b">
            <a:normAutofit/>
          </a:bodyPr>
          <a:lstStyle/>
          <a:p>
            <a:r>
              <a:rPr lang="en-US" b="1" dirty="0"/>
              <a:t>Other lipids: Glycolipids</a:t>
            </a:r>
          </a:p>
        </p:txBody>
      </p:sp>
      <p:pic>
        <p:nvPicPr>
          <p:cNvPr id="6146" name="Picture 2" descr="https://wikispaces.psu.edu/download/attachments/42338556/image-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6" b="9697"/>
          <a:stretch/>
        </p:blipFill>
        <p:spPr bwMode="auto">
          <a:xfrm>
            <a:off x="1699728" y="2589086"/>
            <a:ext cx="4698512" cy="275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C607803A-4E99-444E-94F7-8785CDDF5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80154" y="1884045"/>
            <a:ext cx="3275668" cy="2853308"/>
          </a:xfrm>
          <a:custGeom>
            <a:avLst/>
            <a:gdLst>
              <a:gd name="connsiteX0" fmla="*/ 3275668 w 3275668"/>
              <a:gd name="connsiteY0" fmla="*/ 2853308 h 2853308"/>
              <a:gd name="connsiteX1" fmla="*/ 655 w 3275668"/>
              <a:gd name="connsiteY1" fmla="*/ 2853308 h 2853308"/>
              <a:gd name="connsiteX2" fmla="*/ 0 w 3275668"/>
              <a:gd name="connsiteY2" fmla="*/ 2467565 h 2853308"/>
              <a:gd name="connsiteX3" fmla="*/ 2869894 w 3275668"/>
              <a:gd name="connsiteY3" fmla="*/ 2468888 h 2853308"/>
              <a:gd name="connsiteX4" fmla="*/ 2869894 w 3275668"/>
              <a:gd name="connsiteY4" fmla="*/ 0 h 2853308"/>
              <a:gd name="connsiteX5" fmla="*/ 3275668 w 3275668"/>
              <a:gd name="connsiteY5" fmla="*/ 0 h 285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5668" h="2853308">
                <a:moveTo>
                  <a:pt x="3275668" y="2853308"/>
                </a:moveTo>
                <a:lnTo>
                  <a:pt x="655" y="2853308"/>
                </a:lnTo>
                <a:cubicBezTo>
                  <a:pt x="-655" y="2720171"/>
                  <a:pt x="1310" y="2600702"/>
                  <a:pt x="0" y="2467565"/>
                </a:cubicBezTo>
                <a:lnTo>
                  <a:pt x="2869894" y="2468888"/>
                </a:lnTo>
                <a:lnTo>
                  <a:pt x="2869894" y="0"/>
                </a:lnTo>
                <a:lnTo>
                  <a:pt x="3275668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2989BE6A-C309-418E-8ADD-1616A9805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55822" y="3222529"/>
            <a:ext cx="3242952" cy="2828156"/>
          </a:xfrm>
          <a:custGeom>
            <a:avLst/>
            <a:gdLst>
              <a:gd name="connsiteX0" fmla="*/ 2837178 w 3242952"/>
              <a:gd name="connsiteY0" fmla="*/ 0 h 2828156"/>
              <a:gd name="connsiteX1" fmla="*/ 3242952 w 3242952"/>
              <a:gd name="connsiteY1" fmla="*/ 0 h 2828156"/>
              <a:gd name="connsiteX2" fmla="*/ 3242952 w 3242952"/>
              <a:gd name="connsiteY2" fmla="*/ 2828156 h 2828156"/>
              <a:gd name="connsiteX3" fmla="*/ 0 w 3242952"/>
              <a:gd name="connsiteY3" fmla="*/ 2828156 h 2828156"/>
              <a:gd name="connsiteX4" fmla="*/ 0 w 3242952"/>
              <a:gd name="connsiteY4" fmla="*/ 2442859 h 2828156"/>
              <a:gd name="connsiteX5" fmla="*/ 2837178 w 3242952"/>
              <a:gd name="connsiteY5" fmla="*/ 2443295 h 282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2952" h="2828156">
                <a:moveTo>
                  <a:pt x="2837178" y="0"/>
                </a:moveTo>
                <a:lnTo>
                  <a:pt x="3242952" y="0"/>
                </a:lnTo>
                <a:lnTo>
                  <a:pt x="3242952" y="2828156"/>
                </a:lnTo>
                <a:lnTo>
                  <a:pt x="0" y="2828156"/>
                </a:lnTo>
                <a:lnTo>
                  <a:pt x="0" y="2442859"/>
                </a:lnTo>
                <a:lnTo>
                  <a:pt x="2837178" y="2443295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781373" y="2279151"/>
            <a:ext cx="3627063" cy="3387145"/>
          </a:xfrm>
        </p:spPr>
        <p:txBody>
          <a:bodyPr anchor="ctr">
            <a:normAutofit/>
          </a:bodyPr>
          <a:lstStyle/>
          <a:p>
            <a:r>
              <a:rPr lang="en-US" sz="2400" dirty="0"/>
              <a:t>Glycolipids also have a polar and nonpolar part. </a:t>
            </a:r>
          </a:p>
          <a:p>
            <a:pPr lvl="1"/>
            <a:r>
              <a:rPr lang="en-US" dirty="0"/>
              <a:t>Polar part: sugar molecule as glucose</a:t>
            </a:r>
          </a:p>
          <a:p>
            <a:pPr lvl="1"/>
            <a:r>
              <a:rPr lang="en-US" dirty="0"/>
              <a:t>Nonpolar part: hydrocarbon chain.</a:t>
            </a:r>
          </a:p>
        </p:txBody>
      </p:sp>
    </p:spTree>
    <p:extLst>
      <p:ext uri="{BB962C8B-B14F-4D97-AF65-F5344CB8AC3E}">
        <p14:creationId xmlns:p14="http://schemas.microsoft.com/office/powerpoint/2010/main" val="340727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lipids: Steroids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Steroid are lipids with the following four ring structure.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4294967295"/>
          </p:nvPr>
        </p:nvSpPr>
        <p:spPr>
          <a:xfrm>
            <a:off x="7981950" y="3219450"/>
            <a:ext cx="3467100" cy="272415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Some common steroids are 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cholesterol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testosterone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B-estradiol</a:t>
            </a:r>
          </a:p>
        </p:txBody>
      </p:sp>
      <p:pic>
        <p:nvPicPr>
          <p:cNvPr id="7172" name="Picture 4" descr="http://www.cartage.org.lb/en/themes/sciences/lifescience/generalbiology/physiology/endocrinesystem/Hormones/steroids_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05" y="2623657"/>
            <a:ext cx="6098045" cy="368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8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597315"/>
          </a:xfrm>
          <a:noFill/>
          <a:ln w="19050"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Carbohydrates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Responsible for short term storage of energy in living organisms.</a:t>
            </a:r>
          </a:p>
          <a:p>
            <a:r>
              <a:rPr lang="en-US" sz="2000">
                <a:solidFill>
                  <a:schemeClr val="bg1"/>
                </a:solidFill>
              </a:rPr>
              <a:t>Make up the main structural components of plants</a:t>
            </a:r>
          </a:p>
          <a:p>
            <a:r>
              <a:rPr lang="en-US" sz="2000">
                <a:solidFill>
                  <a:schemeClr val="bg1"/>
                </a:solidFill>
              </a:rPr>
              <a:t>Made up of C, H and O: they are polyhydroxy aldehydes or ketones. </a:t>
            </a:r>
          </a:p>
        </p:txBody>
      </p:sp>
      <p:pic>
        <p:nvPicPr>
          <p:cNvPr id="5122" name="Picture 2" descr="Resultado de imagen para carbohydrate molecule structure">
            <a:extLst>
              <a:ext uri="{FF2B5EF4-FFF2-40B4-BE49-F238E27FC236}">
                <a16:creationId xmlns:a16="http://schemas.microsoft.com/office/drawing/2014/main" id="{0FD13CC2-EABF-471A-AE1C-DC32A79D1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7763" y="1154744"/>
            <a:ext cx="6250769" cy="438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543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Complex carbohydrates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Simple sugars </a:t>
            </a:r>
            <a:r>
              <a:rPr lang="en-US" dirty="0"/>
              <a:t>are called mono-saccharides. When they join, they are called polysaccharides.</a:t>
            </a:r>
          </a:p>
          <a:p>
            <a:r>
              <a:rPr lang="en-US" dirty="0">
                <a:solidFill>
                  <a:srgbClr val="FF0000"/>
                </a:solidFill>
              </a:rPr>
              <a:t>Polysaccharides </a:t>
            </a:r>
            <a:r>
              <a:rPr lang="en-US" dirty="0"/>
              <a:t>are called complex carbohydrates.</a:t>
            </a:r>
          </a:p>
          <a:p>
            <a:pPr lvl="1"/>
            <a:r>
              <a:rPr lang="en-US" dirty="0"/>
              <a:t>Cellulose</a:t>
            </a:r>
          </a:p>
          <a:p>
            <a:pPr lvl="1"/>
            <a:r>
              <a:rPr lang="en-US" dirty="0"/>
              <a:t>Starch </a:t>
            </a:r>
          </a:p>
          <a:p>
            <a:r>
              <a:rPr lang="en-US" dirty="0">
                <a:solidFill>
                  <a:srgbClr val="FF0000"/>
                </a:solidFill>
              </a:rPr>
              <a:t>Glycogen</a:t>
            </a:r>
          </a:p>
          <a:p>
            <a:r>
              <a:rPr lang="en-US" dirty="0"/>
              <a:t>The difference between them is how they are bonded together.</a:t>
            </a:r>
          </a:p>
        </p:txBody>
      </p:sp>
    </p:spTree>
    <p:extLst>
      <p:ext uri="{BB962C8B-B14F-4D97-AF65-F5344CB8AC3E}">
        <p14:creationId xmlns:p14="http://schemas.microsoft.com/office/powerpoint/2010/main" val="1955815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Picture 6" descr="http://www.pburch.net/dyeing/images/800px-Cellulose-Ibeta-from-xtal-2002-3D-balls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"/>
          <a:stretch/>
        </p:blipFill>
        <p:spPr bwMode="auto">
          <a:xfrm>
            <a:off x="-1" y="10"/>
            <a:ext cx="12192001" cy="46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EE09A529-E47C-4634-BB98-0A9526C37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7" name="Oval 76">
            <a:extLst>
              <a:ext uri="{FF2B5EF4-FFF2-40B4-BE49-F238E27FC236}">
                <a16:creationId xmlns:a16="http://schemas.microsoft.com/office/drawing/2014/main" id="{569C1A01-6FB5-43CE-ADCC-936728ACA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6267" y="4388303"/>
            <a:ext cx="824089" cy="70298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04998" y="4551037"/>
            <a:ext cx="5021782" cy="150993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</a:rPr>
              <a:t>Cellulose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124325" y="4388303"/>
            <a:ext cx="7839075" cy="2230763"/>
          </a:xfrm>
        </p:spPr>
        <p:txBody>
          <a:bodyPr anchor="ctr">
            <a:normAutofit fontScale="92500"/>
          </a:bodyPr>
          <a:lstStyle/>
          <a:p>
            <a:pPr marL="342900" indent="-342900"/>
            <a:r>
              <a:rPr lang="en-US" sz="2400" dirty="0">
                <a:solidFill>
                  <a:srgbClr val="000000"/>
                </a:solidFill>
              </a:rPr>
              <a:t>Main structural component of plants</a:t>
            </a:r>
          </a:p>
          <a:p>
            <a:pPr marL="342900" indent="-342900"/>
            <a:r>
              <a:rPr lang="en-US" sz="2400" dirty="0">
                <a:solidFill>
                  <a:srgbClr val="000000"/>
                </a:solidFill>
              </a:rPr>
              <a:t>Most abundant organic substance on Earth.</a:t>
            </a:r>
          </a:p>
          <a:p>
            <a:pPr marL="342900" indent="-342900"/>
            <a:r>
              <a:rPr lang="en-US" sz="2400" dirty="0">
                <a:solidFill>
                  <a:srgbClr val="000000"/>
                </a:solidFill>
              </a:rPr>
              <a:t>Can be structural material since they can hydrogen bond many, many, many times </a:t>
            </a:r>
            <a:r>
              <a:rPr lang="en-US" sz="2400" dirty="0">
                <a:solidFill>
                  <a:srgbClr val="000000"/>
                </a:solidFill>
                <a:sym typeface="Wingdings" pitchFamily="2" charset="2"/>
              </a:rPr>
              <a:t> wood and fiber.</a:t>
            </a:r>
          </a:p>
          <a:p>
            <a:pPr marL="342900" indent="-342900"/>
            <a:r>
              <a:rPr lang="en-US" sz="2400" dirty="0">
                <a:solidFill>
                  <a:srgbClr val="000000"/>
                </a:solidFill>
                <a:sym typeface="Wingdings" pitchFamily="2" charset="2"/>
              </a:rPr>
              <a:t>A special enzyme is needed to digest it. Humans don’t have it.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751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Starch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38200" y="142557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Main energy storage for plants</a:t>
            </a:r>
          </a:p>
          <a:p>
            <a:pPr lvl="1"/>
            <a:r>
              <a:rPr lang="en-US" dirty="0"/>
              <a:t>Found in potatoes and starch</a:t>
            </a:r>
          </a:p>
          <a:p>
            <a:r>
              <a:rPr lang="en-US" dirty="0"/>
              <a:t>Made up of two polysaccharides: amylose and amylopectin</a:t>
            </a:r>
          </a:p>
          <a:p>
            <a:pPr lvl="1"/>
            <a:r>
              <a:rPr lang="en-US" dirty="0"/>
              <a:t>Glucose units bonded together</a:t>
            </a:r>
          </a:p>
          <a:p>
            <a:r>
              <a:rPr lang="en-US" dirty="0"/>
              <a:t>When we digest it, those bonds are broken and glucose units can pass through the intestine walls and then the bloodstream.</a:t>
            </a:r>
          </a:p>
        </p:txBody>
      </p:sp>
      <p:pic>
        <p:nvPicPr>
          <p:cNvPr id="2056" name="Picture 8" descr="http://www.kodaionline.com/Images/Agriculture/Potat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4191000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http://www.kodaionline.com/Images/Agriculture/Potat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191000"/>
            <a:ext cx="29718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www.food-info.net/images/amylopectin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578" y="4191000"/>
            <a:ext cx="5713222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930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http://upload.wikimedia.org/wikipedia/commons/thumb/d/d4/Glykogen.svg/400px-Glykogen.svg.png">
            <a:extLst>
              <a:ext uri="{FF2B5EF4-FFF2-40B4-BE49-F238E27FC236}">
                <a16:creationId xmlns:a16="http://schemas.microsoft.com/office/drawing/2014/main" id="{AF37E7B6-9810-4530-8E9E-5872E648A3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1" r="16961"/>
          <a:stretch/>
        </p:blipFill>
        <p:spPr bwMode="auto">
          <a:xfrm>
            <a:off x="8924925" y="4123391"/>
            <a:ext cx="3267075" cy="253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Glycogen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905000" y="1600200"/>
            <a:ext cx="8552688" cy="480060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400" dirty="0"/>
              <a:t>Similar structure to amylopectin, but more highly branched. </a:t>
            </a:r>
          </a:p>
          <a:p>
            <a:pPr marL="342900" indent="-342900"/>
            <a:r>
              <a:rPr lang="en-US" sz="2400" dirty="0"/>
              <a:t>Animals use glycogens to store glucose in the muscles.</a:t>
            </a:r>
          </a:p>
          <a:p>
            <a:pPr marL="342900" indent="-342900"/>
            <a:r>
              <a:rPr lang="en-US" sz="2400" dirty="0"/>
              <a:t>When there is no glycogen, muscle movement and exercise become much more difficult</a:t>
            </a:r>
            <a:r>
              <a:rPr lang="en-US" sz="1800" dirty="0"/>
              <a:t>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6075218" y="15240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http://www.youtube.com/watch?v=BwpNJSeNYqI&amp;feature=related</a:t>
            </a:r>
          </a:p>
        </p:txBody>
      </p:sp>
      <p:pic>
        <p:nvPicPr>
          <p:cNvPr id="8" name="Picture 4" descr="http://upload.wikimedia.org/wikipedia/commons/thumb/d/d4/Glykogen.svg/400px-Glykogen.sv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0"/>
          <a:stretch/>
        </p:blipFill>
        <p:spPr bwMode="auto">
          <a:xfrm>
            <a:off x="104775" y="4104341"/>
            <a:ext cx="4238625" cy="253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://upload.wikimedia.org/wikipedia/commons/thumb/d/d4/Glykogen.svg/400px-Glykogen.svg.png">
            <a:extLst>
              <a:ext uri="{FF2B5EF4-FFF2-40B4-BE49-F238E27FC236}">
                <a16:creationId xmlns:a16="http://schemas.microsoft.com/office/drawing/2014/main" id="{9D0B389E-F7DD-4118-863F-C45EAEC188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0"/>
          <a:stretch/>
        </p:blipFill>
        <p:spPr bwMode="auto">
          <a:xfrm>
            <a:off x="3048000" y="4104341"/>
            <a:ext cx="4238625" cy="253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upload.wikimedia.org/wikipedia/commons/thumb/d/d4/Glykogen.svg/400px-Glykogen.svg.png">
            <a:extLst>
              <a:ext uri="{FF2B5EF4-FFF2-40B4-BE49-F238E27FC236}">
                <a16:creationId xmlns:a16="http://schemas.microsoft.com/office/drawing/2014/main" id="{6820DB5A-CD5A-46FD-A127-4476DBB635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0"/>
          <a:stretch/>
        </p:blipFill>
        <p:spPr bwMode="auto">
          <a:xfrm>
            <a:off x="5981700" y="4113866"/>
            <a:ext cx="4238625" cy="253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600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C2C5A9D00CEA4F9D2D87607807E953" ma:contentTypeVersion="13" ma:contentTypeDescription="Create a new document." ma:contentTypeScope="" ma:versionID="590e0a48d3d858c03808e2c76993f3cf">
  <xsd:schema xmlns:xsd="http://www.w3.org/2001/XMLSchema" xmlns:xs="http://www.w3.org/2001/XMLSchema" xmlns:p="http://schemas.microsoft.com/office/2006/metadata/properties" xmlns:ns3="a797b910-cc35-46e8-90ff-6a1e0046fd87" xmlns:ns4="952d2224-4720-4718-b0dd-ec34acbcea8e" targetNamespace="http://schemas.microsoft.com/office/2006/metadata/properties" ma:root="true" ma:fieldsID="bc870211302bb92755deab584e164952" ns3:_="" ns4:_="">
    <xsd:import namespace="a797b910-cc35-46e8-90ff-6a1e0046fd87"/>
    <xsd:import namespace="952d2224-4720-4718-b0dd-ec34acbcea8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97b910-cc35-46e8-90ff-6a1e0046fd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d2224-4720-4718-b0dd-ec34acbcea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3E193B-D57D-49ED-B922-0EDCC5948B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6E5959-CD2F-41D3-A6CB-1A79DB776BC9}">
  <ds:schemaRefs>
    <ds:schemaRef ds:uri="a797b910-cc35-46e8-90ff-6a1e0046fd87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952d2224-4720-4718-b0dd-ec34acbcea8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76EEBD0-CEF5-4D12-AFC9-4DA03A7C1E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97b910-cc35-46e8-90ff-6a1e0046fd87"/>
    <ds:schemaRef ds:uri="952d2224-4720-4718-b0dd-ec34acbcea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588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Tema de Office</vt:lpstr>
      <vt:lpstr>Biomolecules</vt:lpstr>
      <vt:lpstr>Biochemistry</vt:lpstr>
      <vt:lpstr>Lipids</vt:lpstr>
      <vt:lpstr>Lipids: Fatty acids</vt:lpstr>
      <vt:lpstr>Lipids: Fatty acids</vt:lpstr>
      <vt:lpstr>Lipids: fats and oils</vt:lpstr>
      <vt:lpstr>Other lipids</vt:lpstr>
      <vt:lpstr>Other lipids: Glycolipids</vt:lpstr>
      <vt:lpstr>Other lipids: Steroids</vt:lpstr>
      <vt:lpstr>Carbohydrates</vt:lpstr>
      <vt:lpstr>Complex carbohydrates</vt:lpstr>
      <vt:lpstr>Cellulose</vt:lpstr>
      <vt:lpstr>Starch</vt:lpstr>
      <vt:lpstr>Glycogen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Biomolecules</dc:title>
  <dc:creator>Brenda Verdugo González</dc:creator>
  <cp:lastModifiedBy>Juan Antonio Silva Rodríguez</cp:lastModifiedBy>
  <cp:revision>9</cp:revision>
  <dcterms:created xsi:type="dcterms:W3CDTF">2019-04-12T14:14:19Z</dcterms:created>
  <dcterms:modified xsi:type="dcterms:W3CDTF">2026-05-03T03:53:09Z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0x01010077C2C5A9D00CEA4F9D2D87607807E953</vt:lpwstr>
  </property>
</Properties>
</file>