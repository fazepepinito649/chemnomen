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12"/>
  </p:notesMasterIdLst>
  <p:sldIdLst>
    <p:sldId id="256" r:id="rId2"/>
    <p:sldId id="296" r:id="rId3"/>
    <p:sldId id="297" r:id="rId4"/>
    <p:sldId id="298" r:id="rId5"/>
    <p:sldId id="299" r:id="rId6"/>
    <p:sldId id="300" r:id="rId7"/>
    <p:sldId id="301" r:id="rId8"/>
    <p:sldId id="302" r:id="rId9"/>
    <p:sldId id="303" r:id="rId10"/>
    <p:sldId id="304" r:id="rId11"/>
  </p:sldIdLst>
  <p:sldSz cx="9144000" cy="5143500" type="screen16x9"/>
  <p:notesSz cx="6858000" cy="9144000"/>
  <p:embeddedFontLst>
    <p:embeddedFont>
      <p:font typeface="Roboto Slab" panose="020F0502020204030204" charset="0"/>
      <p:regular r:id="rId13"/>
      <p:bold r:id="rId14"/>
    </p:embeddedFont>
    <p:embeddedFont>
      <p:font typeface="Source Sans Pro" panose="020B0503030403020204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01FB10D-A61A-4DE4-8506-F670E7A89527}">
  <a:tblStyle styleId="{701FB10D-A61A-4DE4-8506-F670E7A8952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398DAF6-0271-4389-B3DC-BA433CC306D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76" autoAdjust="0"/>
    <p:restoredTop sz="94660"/>
  </p:normalViewPr>
  <p:slideViewPr>
    <p:cSldViewPr snapToGrid="0">
      <p:cViewPr varScale="1">
        <p:scale>
          <a:sx n="85" d="100"/>
          <a:sy n="85" d="100"/>
        </p:scale>
        <p:origin x="114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700185" y="1991850"/>
            <a:ext cx="58074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1pPr>
            <a:lvl2pPr lvl="1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2pPr>
            <a:lvl3pPr lvl="2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3pPr>
            <a:lvl4pPr lvl="3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4pPr>
            <a:lvl5pPr lvl="4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5pPr>
            <a:lvl6pPr lvl="5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6pPr>
            <a:lvl7pPr lvl="6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7pPr>
            <a:lvl8pPr lvl="7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8pPr>
            <a:lvl9pPr lvl="8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7337531" y="4630074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7790243" y="4182401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8893253" y="3333348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8771302" y="4923775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386266" y="508134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479460" y="2703980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261540" y="643097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507235" y="1080863"/>
            <a:ext cx="192600" cy="192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8314019" y="3625322"/>
            <a:ext cx="144300" cy="1440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8882858" y="4186761"/>
            <a:ext cx="144300" cy="1440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158313" y="1596559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1396483" y="226428"/>
            <a:ext cx="192600" cy="192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617492" y="2000594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3425273" y="387880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8014029" y="4567546"/>
            <a:ext cx="192600" cy="192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body" idx="1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◎"/>
              <a:defRPr sz="2400"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◉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>
            <a:spLocks noGrp="1"/>
          </p:cNvSpPr>
          <p:nvPr>
            <p:ph type="ctrTitle"/>
          </p:nvPr>
        </p:nvSpPr>
        <p:spPr>
          <a:xfrm>
            <a:off x="2024136" y="1079077"/>
            <a:ext cx="7692171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Carboxylic Acids</a:t>
            </a:r>
            <a:endParaRPr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423E164-1512-4121-B15E-52BDC600CC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377" y="2223463"/>
            <a:ext cx="6107290" cy="2819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2DDA30-880A-4933-9E07-80E9F055E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500" dirty="0"/>
              <a:t>Carboxylic acids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BD2436-7A85-4FCF-B41E-8FB8415A3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10000"/>
              </a:spcBef>
              <a:spcAft>
                <a:spcPct val="10000"/>
              </a:spcAft>
              <a:buClr>
                <a:schemeClr val="bg2"/>
              </a:buClr>
              <a:buFontTx/>
              <a:buNone/>
            </a:pPr>
            <a:r>
              <a:rPr lang="en-US" altLang="en-US" dirty="0"/>
              <a:t>A </a:t>
            </a:r>
            <a:r>
              <a:rPr lang="en-US" altLang="en-US" dirty="0">
                <a:solidFill>
                  <a:schemeClr val="accent2"/>
                </a:solidFill>
              </a:rPr>
              <a:t>carboxylic acid</a:t>
            </a:r>
            <a:r>
              <a:rPr lang="en-US" altLang="en-US" dirty="0"/>
              <a:t> </a:t>
            </a:r>
          </a:p>
          <a:p>
            <a:pPr eaLnBrk="1" hangingPunct="1">
              <a:spcBef>
                <a:spcPct val="10000"/>
              </a:spcBef>
              <a:spcAft>
                <a:spcPct val="10000"/>
              </a:spcAft>
            </a:pPr>
            <a:r>
              <a:rPr lang="en-US" altLang="en-US" dirty="0"/>
              <a:t>Contains a </a:t>
            </a:r>
            <a:r>
              <a:rPr lang="en-US" altLang="en-US" i="1" dirty="0"/>
              <a:t>carboxyl group, </a:t>
            </a:r>
            <a:r>
              <a:rPr lang="en-US" altLang="en-US" dirty="0"/>
              <a:t>which is a carbonyl group (C=O) attached to a hydroxyl group (</a:t>
            </a:r>
            <a:r>
              <a:rPr lang="en-US" altLang="en-US" dirty="0">
                <a:cs typeface="Arial" panose="020B0604020202020204" pitchFamily="34" charset="0"/>
              </a:rPr>
              <a:t>—</a:t>
            </a:r>
            <a:r>
              <a:rPr lang="en-US" altLang="en-US" dirty="0"/>
              <a:t>OH).</a:t>
            </a:r>
          </a:p>
          <a:p>
            <a:pPr eaLnBrk="1" hangingPunct="1">
              <a:spcBef>
                <a:spcPct val="10000"/>
              </a:spcBef>
              <a:spcAft>
                <a:spcPct val="10000"/>
              </a:spcAft>
            </a:pPr>
            <a:r>
              <a:rPr lang="en-US" altLang="en-US" dirty="0"/>
              <a:t>Has the carboxyl group on carbon 1.</a:t>
            </a:r>
          </a:p>
          <a:p>
            <a:pPr eaLnBrk="1" hangingPunct="1">
              <a:lnSpc>
                <a:spcPct val="90000"/>
              </a:lnSpc>
              <a:buClr>
                <a:schemeClr val="bg2"/>
              </a:buClr>
              <a:buFontTx/>
              <a:buNone/>
            </a:pPr>
            <a:r>
              <a:rPr lang="en-US" altLang="en-US" sz="2000" dirty="0">
                <a:solidFill>
                  <a:schemeClr val="folHlink"/>
                </a:solidFill>
              </a:rPr>
              <a:t>        carbonyl group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bg2"/>
              </a:buClr>
              <a:buFontTx/>
              <a:buNone/>
            </a:pPr>
            <a:r>
              <a:rPr lang="en-US" altLang="en-US" sz="2000" dirty="0"/>
              <a:t>                    </a:t>
            </a:r>
            <a:r>
              <a:rPr lang="en-US" altLang="en-US" sz="2000" b="1" dirty="0">
                <a:solidFill>
                  <a:schemeClr val="folHlink"/>
                </a:solidFill>
              </a:rPr>
              <a:t>O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chemeClr val="folHlink"/>
                </a:solidFill>
              </a:rPr>
              <a:t>  	             </a:t>
            </a:r>
            <a:r>
              <a:rPr lang="en-US" altLang="en-US" sz="2000" b="1" dirty="0">
                <a:solidFill>
                  <a:schemeClr val="folHlink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</a:t>
            </a:r>
            <a:r>
              <a:rPr lang="en-US" altLang="en-US" sz="2000" dirty="0">
                <a:solidFill>
                  <a:schemeClr val="bg2"/>
                </a:solidFill>
              </a:rPr>
              <a:t>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	CH</a:t>
            </a:r>
            <a:r>
              <a:rPr lang="en-US" altLang="en-US" sz="2000" baseline="-25000" dirty="0"/>
              <a:t>3 </a:t>
            </a:r>
            <a:r>
              <a:rPr lang="en-US" altLang="en-US" sz="2000" dirty="0">
                <a:cs typeface="Arial" panose="020B0604020202020204" pitchFamily="34" charset="0"/>
              </a:rPr>
              <a:t>—</a:t>
            </a:r>
            <a:r>
              <a:rPr lang="en-US" altLang="en-US" sz="2000" baseline="-25000" dirty="0"/>
              <a:t> </a:t>
            </a:r>
            <a:r>
              <a:rPr lang="en-US" altLang="en-US" sz="2000" b="1" dirty="0">
                <a:solidFill>
                  <a:schemeClr val="folHlink"/>
                </a:solidFill>
              </a:rPr>
              <a:t>C</a:t>
            </a:r>
            <a:r>
              <a:rPr lang="en-US" altLang="en-US" sz="2000" dirty="0">
                <a:cs typeface="Arial" panose="020B0604020202020204" pitchFamily="34" charset="0"/>
              </a:rPr>
              <a:t>—</a:t>
            </a:r>
            <a:r>
              <a:rPr lang="en-US" altLang="en-US" sz="2000" b="1" dirty="0">
                <a:solidFill>
                  <a:srgbClr val="FF3300"/>
                </a:solidFill>
                <a:cs typeface="Arial" panose="020B0604020202020204" pitchFamily="34" charset="0"/>
              </a:rPr>
              <a:t>OH</a:t>
            </a:r>
            <a:r>
              <a:rPr lang="en-US" altLang="en-US" sz="2000" dirty="0">
                <a:cs typeface="Arial" panose="020B0604020202020204" pitchFamily="34" charset="0"/>
              </a:rPr>
              <a:t>	    </a:t>
            </a:r>
            <a:r>
              <a:rPr lang="en-US" altLang="en-US" sz="2000" dirty="0">
                <a:solidFill>
                  <a:srgbClr val="FF3300"/>
                </a:solidFill>
              </a:rPr>
              <a:t>hydroxyl group      </a:t>
            </a:r>
            <a:r>
              <a:rPr lang="en-US" altLang="en-US" sz="2000" dirty="0"/>
              <a:t>or    CH</a:t>
            </a:r>
            <a:r>
              <a:rPr lang="en-US" altLang="en-US" sz="2000" baseline="-25000" dirty="0"/>
              <a:t>3</a:t>
            </a:r>
            <a:r>
              <a:rPr lang="en-US" altLang="en-US" sz="2000" b="1" dirty="0">
                <a:solidFill>
                  <a:schemeClr val="folHlink"/>
                </a:solidFill>
              </a:rPr>
              <a:t>CO</a:t>
            </a:r>
            <a:r>
              <a:rPr lang="en-US" altLang="en-US" sz="2000" b="1" dirty="0">
                <a:solidFill>
                  <a:srgbClr val="FF3300"/>
                </a:solidFill>
              </a:rPr>
              <a:t>OH</a:t>
            </a:r>
            <a:endParaRPr lang="en-US" altLang="en-US" sz="2000" b="1" dirty="0">
              <a:solidFill>
                <a:srgbClr val="FF3300"/>
              </a:solidFill>
              <a:cs typeface="Arial" panose="020B0604020202020204" pitchFamily="34" charset="0"/>
            </a:endParaRP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cs typeface="Arial" panose="020B0604020202020204" pitchFamily="34" charset="0"/>
              </a:rPr>
              <a:t>    	  </a:t>
            </a:r>
            <a:r>
              <a:rPr lang="en-US" altLang="en-US" sz="2000" i="1" dirty="0">
                <a:cs typeface="Arial" panose="020B0604020202020204" pitchFamily="34" charset="0"/>
              </a:rPr>
              <a:t>carboxyl group</a:t>
            </a:r>
          </a:p>
          <a:p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1D6CCBE-D70C-448F-8713-878706BE0969}"/>
              </a:ext>
            </a:extLst>
          </p:cNvPr>
          <p:cNvSpPr/>
          <p:nvPr/>
        </p:nvSpPr>
        <p:spPr>
          <a:xfrm>
            <a:off x="1715910" y="3352800"/>
            <a:ext cx="1207911" cy="108373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80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44EB9-3D04-42A7-99A4-47FE422D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234" y="688475"/>
            <a:ext cx="7571700" cy="702600"/>
          </a:xfrm>
        </p:spPr>
        <p:txBody>
          <a:bodyPr/>
          <a:lstStyle/>
          <a:p>
            <a:r>
              <a:rPr lang="en-US" sz="3500" dirty="0"/>
              <a:t>Models of carboxylic acids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EF9462-8E25-4B4B-98E6-E5E6DC81E0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  <p:pic>
        <p:nvPicPr>
          <p:cNvPr id="5" name="Picture 4" descr="tlc1f1702_a">
            <a:extLst>
              <a:ext uri="{FF2B5EF4-FFF2-40B4-BE49-F238E27FC236}">
                <a16:creationId xmlns:a16="http://schemas.microsoft.com/office/drawing/2014/main" id="{8869F13B-F884-40D3-B669-8A2934AF4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534" y="1641975"/>
            <a:ext cx="7562850" cy="281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5870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124DF-5A37-4756-A1A7-04DE6311E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500" dirty="0"/>
              <a:t>Properties of carboxylic acids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63404A-DD31-48B3-90F6-F4E08B990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5000"/>
              </a:lnSpc>
              <a:spcBef>
                <a:spcPct val="15000"/>
              </a:spcBef>
            </a:pPr>
            <a:r>
              <a:rPr lang="en-US" altLang="en-US" sz="2000" dirty="0"/>
              <a:t>Are strongly polar.</a:t>
            </a:r>
          </a:p>
          <a:p>
            <a:pPr eaLnBrk="1" hangingPunct="1">
              <a:lnSpc>
                <a:spcPct val="95000"/>
              </a:lnSpc>
              <a:spcBef>
                <a:spcPct val="15000"/>
              </a:spcBef>
            </a:pPr>
            <a:r>
              <a:rPr lang="en-US" altLang="en-US" sz="2000" dirty="0"/>
              <a:t>Have two polar groups: </a:t>
            </a:r>
          </a:p>
          <a:p>
            <a:pPr eaLnBrk="1" hangingPunct="1">
              <a:lnSpc>
                <a:spcPct val="95000"/>
              </a:lnSpc>
              <a:spcBef>
                <a:spcPct val="15000"/>
              </a:spcBef>
              <a:buClr>
                <a:schemeClr val="bg2"/>
              </a:buClr>
              <a:buFontTx/>
              <a:buNone/>
            </a:pPr>
            <a:r>
              <a:rPr lang="en-US" altLang="en-US" sz="2000" dirty="0"/>
              <a:t>		</a:t>
            </a:r>
            <a:r>
              <a:rPr lang="en-US" altLang="en-US" sz="2000" dirty="0">
                <a:solidFill>
                  <a:schemeClr val="accent2"/>
                </a:solidFill>
              </a:rPr>
              <a:t>hydroxyl (</a:t>
            </a: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n-US" altLang="en-US" sz="2000" dirty="0">
                <a:solidFill>
                  <a:schemeClr val="accent2"/>
                </a:solidFill>
                <a:cs typeface="Times New Roman" panose="02020603050405020304" pitchFamily="18" charset="0"/>
              </a:rPr>
              <a:t>OH)</a:t>
            </a:r>
            <a:r>
              <a:rPr lang="en-US" altLang="en-US" sz="2000" dirty="0">
                <a:cs typeface="Times New Roman" panose="02020603050405020304" pitchFamily="18" charset="0"/>
              </a:rPr>
              <a:t> and </a:t>
            </a:r>
            <a:r>
              <a:rPr lang="en-US" altLang="en-US" sz="2000" dirty="0">
                <a:solidFill>
                  <a:srgbClr val="FF0000"/>
                </a:solidFill>
                <a:cs typeface="Times New Roman" panose="02020603050405020304" pitchFamily="18" charset="0"/>
              </a:rPr>
              <a:t>carbonyl (C=O).</a:t>
            </a:r>
          </a:p>
          <a:p>
            <a:pPr eaLnBrk="1" hangingPunct="1">
              <a:lnSpc>
                <a:spcPct val="95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US" altLang="en-US" sz="2000" dirty="0"/>
              <a:t>The </a:t>
            </a:r>
            <a:r>
              <a:rPr lang="en-US" altLang="en-US" sz="2000" dirty="0">
                <a:solidFill>
                  <a:schemeClr val="hlink"/>
                </a:solidFill>
              </a:rPr>
              <a:t>boiling points of carboxylic acids</a:t>
            </a:r>
          </a:p>
          <a:p>
            <a:pPr eaLnBrk="1" hangingPunct="1">
              <a:lnSpc>
                <a:spcPct val="95000"/>
              </a:lnSpc>
              <a:spcBef>
                <a:spcPct val="15000"/>
              </a:spcBef>
            </a:pPr>
            <a:r>
              <a:rPr lang="en-US" altLang="en-US" sz="2000" dirty="0"/>
              <a:t>Are higher than  alcohols, ketones, and aldehydes of similar mass.</a:t>
            </a:r>
          </a:p>
          <a:p>
            <a:pPr eaLnBrk="1" hangingPunct="1">
              <a:lnSpc>
                <a:spcPct val="95000"/>
              </a:lnSpc>
              <a:spcBef>
                <a:spcPct val="15000"/>
              </a:spcBef>
            </a:pPr>
            <a:r>
              <a:rPr lang="en-US" altLang="en-US" sz="2000" dirty="0"/>
              <a:t>Are high because they form </a:t>
            </a:r>
            <a:r>
              <a:rPr lang="en-US" altLang="en-US" sz="2000" dirty="0">
                <a:solidFill>
                  <a:schemeClr val="accent2"/>
                </a:solidFill>
              </a:rPr>
              <a:t>dimers</a:t>
            </a:r>
            <a:r>
              <a:rPr lang="en-US" altLang="en-US" sz="2000" dirty="0">
                <a:solidFill>
                  <a:schemeClr val="accent1"/>
                </a:solidFill>
              </a:rPr>
              <a:t> </a:t>
            </a:r>
            <a:r>
              <a:rPr lang="en-US" altLang="en-US" sz="2000" dirty="0"/>
              <a:t>in which hydrogen bonds form between the polar groups in the two carboxyl groups.</a:t>
            </a:r>
          </a:p>
          <a:p>
            <a:pPr eaLnBrk="1" hangingPunct="1">
              <a:lnSpc>
                <a:spcPct val="95000"/>
              </a:lnSpc>
              <a:spcBef>
                <a:spcPct val="15000"/>
              </a:spcBef>
              <a:buClr>
                <a:schemeClr val="bg2"/>
              </a:buClr>
              <a:buFontTx/>
              <a:buNone/>
            </a:pPr>
            <a:endParaRPr lang="en-US" altLang="en-US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ct val="95000"/>
              </a:lnSpc>
              <a:spcBef>
                <a:spcPct val="15000"/>
              </a:spcBef>
              <a:buClr>
                <a:schemeClr val="bg2"/>
              </a:buClr>
              <a:buFontTx/>
              <a:buNone/>
            </a:pPr>
            <a:endParaRPr lang="en-US" altLang="en-US" dirty="0">
              <a:solidFill>
                <a:schemeClr val="tx2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ct val="95000"/>
              </a:lnSpc>
              <a:spcBef>
                <a:spcPct val="15000"/>
              </a:spcBef>
              <a:buClr>
                <a:schemeClr val="bg2"/>
              </a:buClr>
              <a:buFontTx/>
              <a:buNone/>
            </a:pPr>
            <a:r>
              <a:rPr lang="en-US" altLang="en-US" dirty="0">
                <a:cs typeface="Times New Roman" panose="02020603050405020304" pitchFamily="18" charset="0"/>
              </a:rPr>
              <a:t>                          </a:t>
            </a:r>
            <a:r>
              <a:rPr lang="el-GR" altLang="en-US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3FB32-3197-4593-9447-FF004B8CA2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F12A3F3-5EAC-4DED-84D7-FFCD1B510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0531" y="1073173"/>
            <a:ext cx="2478203" cy="1399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9325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48E98-87E9-4C6A-ABE0-7E4C398D8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FE7D9-C318-4FF8-A930-DFE826FF1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EB555-D724-4154-8DDB-3A547253CF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7221E3-8164-475A-8726-169E97B008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987" t="24518" r="21975" b="15703"/>
          <a:stretch/>
        </p:blipFill>
        <p:spPr>
          <a:xfrm>
            <a:off x="190916" y="89587"/>
            <a:ext cx="7962639" cy="46920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605234-19D0-418A-8BE4-46C2FC286DB0}"/>
              </a:ext>
            </a:extLst>
          </p:cNvPr>
          <p:cNvSpPr txBox="1"/>
          <p:nvPr/>
        </p:nvSpPr>
        <p:spPr>
          <a:xfrm>
            <a:off x="2317934" y="4300533"/>
            <a:ext cx="6635150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Roboto Slab" panose="020B0604020202020204" charset="0"/>
                <a:ea typeface="Roboto Slab" panose="020B0604020202020204" charset="0"/>
              </a:rPr>
              <a:t>Can you tell what is the nomenclature for carboxylic acids?</a:t>
            </a:r>
          </a:p>
        </p:txBody>
      </p:sp>
    </p:spTree>
    <p:extLst>
      <p:ext uri="{BB962C8B-B14F-4D97-AF65-F5344CB8AC3E}">
        <p14:creationId xmlns:p14="http://schemas.microsoft.com/office/powerpoint/2010/main" val="1024459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5BDA8-685D-4CC0-A6A4-A51251CF6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500" dirty="0"/>
              <a:t>Properties of carboxylic acids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616DFE-571A-463A-91F8-1AD18BBCE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5261" y="1151346"/>
            <a:ext cx="4764874" cy="3573600"/>
          </a:xfrm>
        </p:spPr>
        <p:txBody>
          <a:bodyPr/>
          <a:lstStyle/>
          <a:p>
            <a:r>
              <a:rPr lang="en-US" sz="2000" dirty="0"/>
              <a:t>Solubility</a:t>
            </a:r>
          </a:p>
          <a:p>
            <a:pPr lvl="1"/>
            <a:r>
              <a:rPr lang="en-US" sz="2000" dirty="0"/>
              <a:t>They form hydrogen bonds with water</a:t>
            </a:r>
          </a:p>
          <a:p>
            <a:pPr lvl="1"/>
            <a:r>
              <a:rPr lang="en-US" sz="2000" dirty="0"/>
              <a:t>Lose solubility after the carbon chain reaches 4 o 5 carbons.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B08E00-FE45-417D-A72E-3C2990A479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pic>
        <p:nvPicPr>
          <p:cNvPr id="5" name="Picture 4" descr="tlc1f1704_a">
            <a:extLst>
              <a:ext uri="{FF2B5EF4-FFF2-40B4-BE49-F238E27FC236}">
                <a16:creationId xmlns:a16="http://schemas.microsoft.com/office/drawing/2014/main" id="{DBFE3E03-11B8-46A9-AE73-6F063B7B01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8179" y="1313992"/>
            <a:ext cx="3683287" cy="2949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4419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5749A-8213-439B-8A2F-37B5F8117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3586C2-2CBF-4D94-BCEB-3BD9BFAF83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E706F-C2ED-4B47-9287-A439E1EC0E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pic>
        <p:nvPicPr>
          <p:cNvPr id="5" name="Picture 4" descr="tlc1f17T02_a">
            <a:extLst>
              <a:ext uri="{FF2B5EF4-FFF2-40B4-BE49-F238E27FC236}">
                <a16:creationId xmlns:a16="http://schemas.microsoft.com/office/drawing/2014/main" id="{E7593E5A-D862-4909-AA9E-FFC30CCF2D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589" y="360843"/>
            <a:ext cx="7818822" cy="4474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8899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97B74-0D68-4298-9852-123C8C80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350" y="308200"/>
            <a:ext cx="8662650" cy="702600"/>
          </a:xfrm>
        </p:spPr>
        <p:txBody>
          <a:bodyPr/>
          <a:lstStyle/>
          <a:p>
            <a:r>
              <a:rPr lang="en-US" sz="3500" dirty="0"/>
              <a:t>Where can we find carboxylic acids?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BBB-061B-4FBF-9D28-49E072006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916" y="1261700"/>
            <a:ext cx="3345618" cy="3573600"/>
          </a:xfrm>
        </p:spPr>
        <p:txBody>
          <a:bodyPr/>
          <a:lstStyle/>
          <a:p>
            <a:r>
              <a:rPr lang="en-US" b="1" dirty="0"/>
              <a:t>Alpha hydroxy acids</a:t>
            </a:r>
            <a:r>
              <a:rPr lang="en-US" dirty="0"/>
              <a:t>: in fruits, milks and sugarcane. Used as weak acids in skin care products.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C3D9F3-ED83-4276-998F-3D0E5D1CD6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pic>
        <p:nvPicPr>
          <p:cNvPr id="5" name="Picture 4" descr="tlc1f17UN01_a">
            <a:extLst>
              <a:ext uri="{FF2B5EF4-FFF2-40B4-BE49-F238E27FC236}">
                <a16:creationId xmlns:a16="http://schemas.microsoft.com/office/drawing/2014/main" id="{064094E8-2F18-479A-AE82-B7F946BA9F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6534" y="1081595"/>
            <a:ext cx="5137440" cy="3753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1294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A1D37-A2ED-4FE2-9E24-2493A8A7F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150" y="308120"/>
            <a:ext cx="8166934" cy="702600"/>
          </a:xfrm>
        </p:spPr>
        <p:txBody>
          <a:bodyPr/>
          <a:lstStyle/>
          <a:p>
            <a:r>
              <a:rPr lang="en-US" sz="3500" dirty="0"/>
              <a:t>Where can we find carboxylic acids?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8E7EF8-79DA-43B2-8C76-54F85B879F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Methanoic</a:t>
            </a:r>
            <a:r>
              <a:rPr lang="en-US" b="1" dirty="0"/>
              <a:t> acid </a:t>
            </a:r>
            <a:r>
              <a:rPr lang="en-US" dirty="0"/>
              <a:t>(</a:t>
            </a:r>
            <a:r>
              <a:rPr lang="en-US" i="1" dirty="0"/>
              <a:t>formic acid</a:t>
            </a:r>
            <a:r>
              <a:rPr lang="en-US" dirty="0"/>
              <a:t>): ants and bee stings</a:t>
            </a:r>
          </a:p>
          <a:p>
            <a:r>
              <a:rPr lang="en-US" b="1" dirty="0"/>
              <a:t>Ethanoic acid </a:t>
            </a:r>
            <a:r>
              <a:rPr lang="en-US" dirty="0"/>
              <a:t>(</a:t>
            </a:r>
            <a:r>
              <a:rPr lang="en-US" i="1" dirty="0"/>
              <a:t>acetic acid</a:t>
            </a:r>
            <a:r>
              <a:rPr lang="en-US" dirty="0"/>
              <a:t>): vinegars</a:t>
            </a:r>
          </a:p>
          <a:p>
            <a:r>
              <a:rPr lang="en-US" b="1" dirty="0"/>
              <a:t>Propanoic acid</a:t>
            </a:r>
            <a:r>
              <a:rPr lang="en-US" dirty="0"/>
              <a:t>: dairy products</a:t>
            </a:r>
          </a:p>
          <a:p>
            <a:r>
              <a:rPr lang="en-US" b="1" dirty="0"/>
              <a:t>Butanoic acid</a:t>
            </a:r>
            <a:r>
              <a:rPr lang="en-US" dirty="0"/>
              <a:t>: butter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F399D-7CEB-4E72-8DDF-A1EA176269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7645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51689-422E-4AAF-83E0-378536CD54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21169B7-92B0-4812-B72D-E06A75B112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160" y="-96015"/>
            <a:ext cx="7417795" cy="5239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8314721"/>
      </p:ext>
    </p:extLst>
  </p:cSld>
  <p:clrMapOvr>
    <a:masterClrMapping/>
  </p:clrMapOvr>
</p:sld>
</file>

<file path=ppt/theme/theme1.xml><?xml version="1.0" encoding="utf-8"?>
<a:theme xmlns:a="http://schemas.openxmlformats.org/drawingml/2006/main" name="Cordelia template">
  <a:themeElements>
    <a:clrScheme name="Custom 347">
      <a:dk1>
        <a:srgbClr val="263238"/>
      </a:dk1>
      <a:lt1>
        <a:srgbClr val="FFFFFF"/>
      </a:lt1>
      <a:dk2>
        <a:srgbClr val="607D8B"/>
      </a:dk2>
      <a:lt2>
        <a:srgbClr val="ECEFF1"/>
      </a:lt2>
      <a:accent1>
        <a:srgbClr val="0091EA"/>
      </a:accent1>
      <a:accent2>
        <a:srgbClr val="0053A3"/>
      </a:accent2>
      <a:accent3>
        <a:srgbClr val="607D8B"/>
      </a:accent3>
      <a:accent4>
        <a:srgbClr val="CFD8DC"/>
      </a:accent4>
      <a:accent5>
        <a:srgbClr val="ECEFF1"/>
      </a:accent5>
      <a:accent6>
        <a:srgbClr val="ACDBF8"/>
      </a:accent6>
      <a:hlink>
        <a:srgbClr val="0091EA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239</Words>
  <Application>Microsoft Office PowerPoint</Application>
  <PresentationFormat>On-screen Show (16:9)</PresentationFormat>
  <Paragraphs>41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Times New Roman</vt:lpstr>
      <vt:lpstr>Wingdings</vt:lpstr>
      <vt:lpstr>Source Sans Pro</vt:lpstr>
      <vt:lpstr>Roboto Slab</vt:lpstr>
      <vt:lpstr>Cordelia template</vt:lpstr>
      <vt:lpstr>Carboxylic Acids</vt:lpstr>
      <vt:lpstr>Carboxylic acids</vt:lpstr>
      <vt:lpstr>Models of carboxylic acids</vt:lpstr>
      <vt:lpstr>Properties of carboxylic acids</vt:lpstr>
      <vt:lpstr>PowerPoint Presentation</vt:lpstr>
      <vt:lpstr>Properties of carboxylic acids</vt:lpstr>
      <vt:lpstr>PowerPoint Presentation</vt:lpstr>
      <vt:lpstr>Where can we find carboxylic acids?</vt:lpstr>
      <vt:lpstr>Where can we find carboxylic acids?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Carboxylic Acids</dc:title>
  <dc:creator>Brenda Verdugo</dc:creator>
  <cp:lastModifiedBy>Juan Antonio Silva Rodríguez</cp:lastModifiedBy>
  <cp:revision>4</cp:revision>
  <dcterms:modified xsi:type="dcterms:W3CDTF">2026-04-08T04:59:54Z</dcterms:modified>
</cp:coreProperties>
</file>