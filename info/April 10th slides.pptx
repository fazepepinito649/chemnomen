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489" r:id="rId2"/>
    <p:sldId id="490" r:id="rId3"/>
    <p:sldId id="491" r:id="rId4"/>
    <p:sldId id="492" r:id="rId5"/>
    <p:sldId id="493" r:id="rId6"/>
    <p:sldId id="49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C0B73A-8892-44DE-9AE1-C6B4D3B128FF}"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55FBF-75D7-4348-A1C8-84D9FED71A1A}" type="slidenum">
              <a:rPr lang="en-US" smtClean="0"/>
              <a:t>‹#›</a:t>
            </a:fld>
            <a:endParaRPr lang="en-US"/>
          </a:p>
        </p:txBody>
      </p:sp>
    </p:spTree>
    <p:extLst>
      <p:ext uri="{BB962C8B-B14F-4D97-AF65-F5344CB8AC3E}">
        <p14:creationId xmlns:p14="http://schemas.microsoft.com/office/powerpoint/2010/main" val="2385971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6314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1" name="Freeform 6"/>
          <p:cNvSpPr/>
          <p:nvPr/>
        </p:nvSpPr>
        <p:spPr bwMode="auto">
          <a:xfrm>
            <a:off x="0" y="-3174"/>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sz="1400"/>
          </a:p>
        </p:txBody>
      </p:sp>
      <p:sp>
        <p:nvSpPr>
          <p:cNvPr id="2" name="Title 1"/>
          <p:cNvSpPr>
            <a:spLocks noGrp="1"/>
          </p:cNvSpPr>
          <p:nvPr>
            <p:ph type="ctrTitle"/>
          </p:nvPr>
        </p:nvSpPr>
        <p:spPr>
          <a:xfrm>
            <a:off x="1078442" y="1449147"/>
            <a:ext cx="10035117" cy="2971051"/>
          </a:xfrm>
        </p:spPr>
        <p:txBody>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78442" y="5280847"/>
            <a:ext cx="10035117" cy="434975"/>
          </a:xfrm>
        </p:spPr>
        <p:txBody>
          <a:bodyPr anchor="t"/>
          <a:lstStyle>
            <a:lvl1pPr marL="0" indent="0" algn="l">
              <a:buNone/>
              <a:defRPr>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F10BBC9-1B48-43AC-A079-933BC22D4417}"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178267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1" name="Freeform 6"/>
          <p:cNvSpPr/>
          <p:nvPr/>
        </p:nvSpPr>
        <p:spPr bwMode="auto">
          <a:xfrm>
            <a:off x="0" y="1"/>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079998" y="2222287"/>
            <a:ext cx="10032004" cy="363651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F10BBC9-1B48-43AC-A079-933BC22D4417}"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91739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3" y="2951396"/>
            <a:ext cx="10035116" cy="1468800"/>
          </a:xfrm>
        </p:spPr>
        <p:txBody>
          <a:bodyPr anchor="b"/>
          <a:lstStyle>
            <a:lvl1pPr algn="r">
              <a:defRPr sz="48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73153" y="5281201"/>
            <a:ext cx="10035116" cy="433955"/>
          </a:xfrm>
        </p:spPr>
        <p:txBody>
          <a:bodyPr anchor="t">
            <a:noAutofit/>
          </a:bodyPr>
          <a:lstStyle>
            <a:lvl1pPr marL="0" indent="0" algn="r">
              <a:buNone/>
              <a:defRPr sz="18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F10BBC9-1B48-43AC-A079-933BC22D4417}"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2110998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Freeform 6"/>
          <p:cNvSpPr/>
          <p:nvPr/>
        </p:nvSpPr>
        <p:spPr bwMode="auto">
          <a:xfrm>
            <a:off x="0" y="1"/>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79997" y="2222288"/>
            <a:ext cx="4894297" cy="36387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707" y="2222288"/>
            <a:ext cx="4894293" cy="36387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F10BBC9-1B48-43AC-A079-933BC22D4417}"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145502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Freeform 6"/>
          <p:cNvSpPr/>
          <p:nvPr/>
        </p:nvSpPr>
        <p:spPr bwMode="auto">
          <a:xfrm>
            <a:off x="0" y="1"/>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79997" y="2174875"/>
            <a:ext cx="4894297" cy="576263"/>
          </a:xfrm>
        </p:spPr>
        <p:txBody>
          <a:bodyPr anchor="b">
            <a:noAutofit/>
          </a:bodyPr>
          <a:lstStyle>
            <a:lvl1pPr marL="0" indent="0" algn="ctr">
              <a:buNone/>
              <a:defRPr sz="20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79997" y="2751138"/>
            <a:ext cx="4916521"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707" y="2174875"/>
            <a:ext cx="4894293" cy="576263"/>
          </a:xfrm>
        </p:spPr>
        <p:txBody>
          <a:bodyPr anchor="b">
            <a:noAutofit/>
          </a:bodyPr>
          <a:lstStyle>
            <a:lvl1pPr marL="0" indent="0" algn="ctr">
              <a:buNone/>
              <a:defRPr sz="20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7" y="2751138"/>
            <a:ext cx="4894293"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F10BBC9-1B48-43AC-A079-933BC22D4417}"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115972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Freeform 6"/>
          <p:cNvSpPr/>
          <p:nvPr/>
        </p:nvSpPr>
        <p:spPr bwMode="auto">
          <a:xfrm>
            <a:off x="0" y="1"/>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F10BBC9-1B48-43AC-A079-933BC22D4417}"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1477030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10BBC9-1B48-43AC-A079-933BC22D4417}"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212360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9"/>
            <a:ext cx="3547533" cy="1618396"/>
          </a:xfrm>
        </p:spPr>
        <p:txBody>
          <a:bodyPr anchor="b"/>
          <a:lstStyle>
            <a:lvl1pPr algn="l">
              <a:defRPr sz="20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4" y="446088"/>
            <a:ext cx="6252633" cy="54149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F10BBC9-1B48-43AC-A079-933BC22D4417}"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2194809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79995" y="727521"/>
            <a:ext cx="4668731" cy="1617163"/>
          </a:xfrm>
        </p:spPr>
        <p:txBody>
          <a:bodyPr anchor="b">
            <a:normAutofit/>
          </a:bodyPr>
          <a:lstStyle>
            <a:lvl1pPr algn="l">
              <a:defRPr sz="2400" b="0"/>
            </a:lvl1pPr>
          </a:lstStyle>
          <a:p>
            <a:r>
              <a:rPr lang="es-ES"/>
              <a:t>Haga clic para modificar el estilo de título del patrón</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1079995" y="2344684"/>
            <a:ext cx="4668731" cy="3516365"/>
          </a:xfrm>
        </p:spPr>
        <p:txBody>
          <a:bodyPr anchor="t">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3885811" y="6041362"/>
            <a:ext cx="976879" cy="365125"/>
          </a:xfrm>
        </p:spPr>
        <p:txBody>
          <a:bodyPr/>
          <a:lstStyle/>
          <a:p>
            <a:fld id="{BF10BBC9-1B48-43AC-A079-933BC22D4417}" type="datetimeFigureOut">
              <a:rPr lang="en-US" smtClean="0"/>
              <a:t>4/10/2026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9"/>
            <a:ext cx="1062155" cy="490599"/>
          </a:xfrm>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3644396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73153" y="4800600"/>
            <a:ext cx="10035116" cy="566739"/>
          </a:xfrm>
        </p:spPr>
        <p:txBody>
          <a:bodyPr anchor="b">
            <a:normAutofit/>
          </a:bodyPr>
          <a:lstStyle>
            <a:lvl1pPr algn="l">
              <a:defRPr sz="2400" b="0"/>
            </a:lvl1pPr>
          </a:lstStyle>
          <a:p>
            <a:r>
              <a:rPr lang="es-ES"/>
              <a:t>Haga clic para modificar el estilo de título del patrón</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1073153" y="5367339"/>
            <a:ext cx="10035116"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F10BBC9-1B48-43AC-A079-933BC22D4417}"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1923985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8" name="Freeform 6"/>
          <p:cNvSpPr>
            <a:spLocks noChangeAspect="1"/>
          </p:cNvSpPr>
          <p:nvPr/>
        </p:nvSpPr>
        <p:spPr bwMode="auto">
          <a:xfrm>
            <a:off x="646809" y="1338479"/>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66097" y="1495525"/>
            <a:ext cx="5893840" cy="2645912"/>
          </a:xfrm>
        </p:spPr>
        <p:txBody>
          <a:bodyPr anchor="b"/>
          <a:lstStyle>
            <a:lvl1pPr algn="l">
              <a:defRPr sz="42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8303" y="4700704"/>
            <a:ext cx="5891636" cy="713241"/>
          </a:xfrm>
        </p:spPr>
        <p:txBody>
          <a:bodyPr anchor="t">
            <a:noAutofit/>
          </a:bodyPr>
          <a:lstStyle>
            <a:lvl1pPr marL="0" indent="0" algn="l">
              <a:buNone/>
              <a:defRPr sz="18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s-ES"/>
              <a:t>Haga clic para modificar los estilos de texto del patrón</a:t>
            </a:r>
          </a:p>
        </p:txBody>
      </p:sp>
      <p:sp>
        <p:nvSpPr>
          <p:cNvPr id="9" name="Text Placeholder 5"/>
          <p:cNvSpPr>
            <a:spLocks noGrp="1"/>
          </p:cNvSpPr>
          <p:nvPr>
            <p:ph type="body" sz="quarter" idx="16"/>
          </p:nvPr>
        </p:nvSpPr>
        <p:spPr>
          <a:xfrm>
            <a:off x="7198512" y="1338479"/>
            <a:ext cx="4403088" cy="4075464"/>
          </a:xfrm>
        </p:spPr>
        <p:txBody>
          <a:bodyPr anchor="t"/>
          <a:lstStyle>
            <a:lvl1pPr marL="0" indent="0">
              <a:buFontTx/>
              <a:buNone/>
              <a:defRPr/>
            </a:lvl1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F10BBC9-1B48-43AC-A079-933BC22D4417}"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804857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6"/>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90" y="2435956"/>
            <a:ext cx="4382521" cy="2007789"/>
          </a:xfrm>
        </p:spPr>
        <p:txBody>
          <a:bodyPr/>
          <a:lstStyle>
            <a:lvl1pPr>
              <a:defRPr sz="3200"/>
            </a:lvl1pPr>
          </a:lstStyle>
          <a:p>
            <a:r>
              <a:rPr lang="es-ES"/>
              <a:t>Haga clic para modificar el estilo de título del patrón</a:t>
            </a:r>
            <a:endParaRPr lang="en-US" dirty="0"/>
          </a:p>
        </p:txBody>
      </p:sp>
      <p:sp>
        <p:nvSpPr>
          <p:cNvPr id="6" name="Text Placeholder 5"/>
          <p:cNvSpPr>
            <a:spLocks noGrp="1"/>
          </p:cNvSpPr>
          <p:nvPr>
            <p:ph type="body" sz="quarter" idx="16"/>
          </p:nvPr>
        </p:nvSpPr>
        <p:spPr>
          <a:xfrm>
            <a:off x="6155267" y="2286000"/>
            <a:ext cx="4895851" cy="2300288"/>
          </a:xfrm>
        </p:spPr>
        <p:txBody>
          <a:bodyPr anchor="t"/>
          <a:lstStyle>
            <a:lvl1pPr marL="0" indent="0">
              <a:buFontTx/>
              <a:buNone/>
              <a:defRPr/>
            </a:lvl1pPr>
          </a:lstStyle>
          <a:p>
            <a:pPr lvl="0"/>
            <a:r>
              <a:rPr lang="es-ES"/>
              <a:t>Haga clic para modificar los estilos de texto del patrón</a:t>
            </a:r>
          </a:p>
        </p:txBody>
      </p:sp>
      <p:sp>
        <p:nvSpPr>
          <p:cNvPr id="2" name="Date Placeholder 1"/>
          <p:cNvSpPr>
            <a:spLocks noGrp="1"/>
          </p:cNvSpPr>
          <p:nvPr>
            <p:ph type="dt" sz="half" idx="10"/>
          </p:nvPr>
        </p:nvSpPr>
        <p:spPr/>
        <p:txBody>
          <a:bodyPr/>
          <a:lstStyle/>
          <a:p>
            <a:fld id="{BF10BBC9-1B48-43AC-A079-933BC22D4417}"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3230965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Freeform 6"/>
          <p:cNvSpPr/>
          <p:nvPr/>
        </p:nvSpPr>
        <p:spPr bwMode="auto">
          <a:xfrm>
            <a:off x="0" y="1"/>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F10BBC9-1B48-43AC-A079-933BC22D4417}"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1911352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3"/>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9" name="AutoShape 4"/>
          <p:cNvSpPr>
            <a:spLocks noChangeAspect="1" noChangeArrowheads="1" noTextEdit="1"/>
          </p:cNvSpPr>
          <p:nvPr/>
        </p:nvSpPr>
        <p:spPr bwMode="auto">
          <a:xfrm>
            <a:off x="6978651" y="0"/>
            <a:ext cx="5213349"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 name="Vertical Title 1"/>
          <p:cNvSpPr>
            <a:spLocks noGrp="1"/>
          </p:cNvSpPr>
          <p:nvPr>
            <p:ph type="title" orient="vert"/>
          </p:nvPr>
        </p:nvSpPr>
        <p:spPr>
          <a:xfrm>
            <a:off x="8183540" y="586171"/>
            <a:ext cx="2269067" cy="513479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73150" y="446089"/>
            <a:ext cx="6596501" cy="541496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F10BBC9-1B48-43AC-A079-933BC22D4417}"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503E52-BD02-4C9A-850B-204BCC264E28}" type="slidenum">
              <a:rPr lang="en-US" smtClean="0"/>
              <a:t>‹#›</a:t>
            </a:fld>
            <a:endParaRPr lang="en-US"/>
          </a:p>
        </p:txBody>
      </p:sp>
    </p:spTree>
    <p:extLst>
      <p:ext uri="{BB962C8B-B14F-4D97-AF65-F5344CB8AC3E}">
        <p14:creationId xmlns:p14="http://schemas.microsoft.com/office/powerpoint/2010/main" val="846883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9998" y="447188"/>
            <a:ext cx="10032004" cy="970451"/>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79998" y="2184400"/>
            <a:ext cx="10032004"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p:cNvSpPr>
            <a:spLocks noGrp="1"/>
          </p:cNvSpPr>
          <p:nvPr>
            <p:ph type="ftr" sz="quarter" idx="3"/>
          </p:nvPr>
        </p:nvSpPr>
        <p:spPr>
          <a:xfrm>
            <a:off x="590396" y="6041362"/>
            <a:ext cx="8386043"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215231" y="6041362"/>
            <a:ext cx="1324215" cy="365125"/>
          </a:xfrm>
          <a:prstGeom prst="rect">
            <a:avLst/>
          </a:prstGeom>
        </p:spPr>
        <p:txBody>
          <a:bodyPr vert="horz" lIns="91440" tIns="45720" rIns="91440" bIns="45720" rtlCol="0" anchor="b"/>
          <a:lstStyle>
            <a:lvl1pPr algn="r">
              <a:defRPr sz="900">
                <a:solidFill>
                  <a:schemeClr val="tx1"/>
                </a:solidFill>
              </a:defRPr>
            </a:lvl1pPr>
          </a:lstStyle>
          <a:p>
            <a:fld id="{BF10BBC9-1B48-43AC-A079-933BC22D4417}" type="datetimeFigureOut">
              <a:rPr lang="en-US" smtClean="0"/>
              <a:t>4/10/2026</a:t>
            </a:fld>
            <a:endParaRPr lang="en-US"/>
          </a:p>
        </p:txBody>
      </p:sp>
      <p:sp>
        <p:nvSpPr>
          <p:cNvPr id="6" name="Slide Number Placeholder 5"/>
          <p:cNvSpPr>
            <a:spLocks noGrp="1"/>
          </p:cNvSpPr>
          <p:nvPr>
            <p:ph type="sldNum" sz="quarter" idx="4"/>
          </p:nvPr>
        </p:nvSpPr>
        <p:spPr>
          <a:xfrm>
            <a:off x="10539445" y="5915889"/>
            <a:ext cx="1062155" cy="490599"/>
          </a:xfrm>
          <a:prstGeom prst="rect">
            <a:avLst/>
          </a:prstGeom>
        </p:spPr>
        <p:txBody>
          <a:bodyPr vert="horz" lIns="91440" tIns="45720" rIns="91440" bIns="10800" rtlCol="0" anchor="b"/>
          <a:lstStyle>
            <a:lvl1pPr algn="r">
              <a:defRPr sz="2000">
                <a:solidFill>
                  <a:schemeClr val="accent1"/>
                </a:solidFill>
              </a:defRPr>
            </a:lvl1pPr>
          </a:lstStyle>
          <a:p>
            <a:fld id="{1D503E52-BD02-4C9A-850B-204BCC264E28}" type="slidenum">
              <a:rPr lang="en-US" smtClean="0"/>
              <a:t>‹#›</a:t>
            </a:fld>
            <a:endParaRPr lang="en-US"/>
          </a:p>
        </p:txBody>
      </p:sp>
    </p:spTree>
    <p:extLst>
      <p:ext uri="{BB962C8B-B14F-4D97-AF65-F5344CB8AC3E}">
        <p14:creationId xmlns:p14="http://schemas.microsoft.com/office/powerpoint/2010/main" val="409466371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189" rtl="0" eaLnBrk="1" latinLnBrk="0" hangingPunct="1">
        <a:spcBef>
          <a:spcPct val="0"/>
        </a:spcBef>
        <a:buNone/>
        <a:defRPr sz="4000" b="1" kern="1200">
          <a:solidFill>
            <a:srgbClr val="FEFEFE"/>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32" indent="-285744" algn="l" defTabSz="457189"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2971" indent="-228594" algn="l" defTabSz="457189"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160" indent="-228594" algn="l" defTabSz="457189"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349" indent="-228594" algn="l" defTabSz="457189"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399940" indent="-228594" algn="l" defTabSz="457189"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799930" indent="-228594" algn="l" defTabSz="457189"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199920" indent="-228594" algn="l" defTabSz="457189"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599910" indent="-228594" algn="l" defTabSz="457189"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upload.wikimedia.org/wikipedia/commons/e/e5/Ethyl-acetate-3D-balls.p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reakingdownchemistry.tumblr.com/post/74317479432/why-fruits-smell-the-way-they-do-the-smells-of"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200" name="Picture 8" descr="File:Ethyl-acetate-3D-balls.png">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88" b="-1"/>
          <a:stretch/>
        </p:blipFill>
        <p:spPr bwMode="auto">
          <a:xfrm>
            <a:off x="1524021" y="-1"/>
            <a:ext cx="9143980" cy="4883281"/>
          </a:xfrm>
          <a:prstGeom prst="rect">
            <a:avLst/>
          </a:prstGeom>
          <a:noFill/>
          <a:extLst>
            <a:ext uri="{909E8E84-426E-40DD-AFC4-6F175D3DCCD1}">
              <a14:hiddenFill xmlns:a14="http://schemas.microsoft.com/office/drawing/2010/main">
                <a:solidFill>
                  <a:srgbClr val="FFFFFF"/>
                </a:solidFill>
              </a14:hiddenFill>
            </a:ext>
          </a:extLst>
        </p:spPr>
      </p:pic>
      <p:sp>
        <p:nvSpPr>
          <p:cNvPr id="77" name="Freeform 9">
            <a:extLst>
              <a:ext uri="{FF2B5EF4-FFF2-40B4-BE49-F238E27FC236}">
                <a16:creationId xmlns:a16="http://schemas.microsoft.com/office/drawing/2014/main" id="{AFB83730-58A8-42CA-90B3-5D5D2D1B0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000" y="4547641"/>
            <a:ext cx="9144000" cy="2332907"/>
          </a:xfrm>
          <a:custGeom>
            <a:avLst/>
            <a:gdLst>
              <a:gd name="connsiteX0" fmla="*/ 0 w 12192000"/>
              <a:gd name="connsiteY0" fmla="*/ 0 h 2332906"/>
              <a:gd name="connsiteX1" fmla="*/ 1996017 w 12192000"/>
              <a:gd name="connsiteY1" fmla="*/ 0 h 2332906"/>
              <a:gd name="connsiteX2" fmla="*/ 2377017 w 12192000"/>
              <a:gd name="connsiteY2" fmla="*/ 263783 h 2332906"/>
              <a:gd name="connsiteX3" fmla="*/ 2385484 w 12192000"/>
              <a:gd name="connsiteY3" fmla="*/ 266713 h 2332906"/>
              <a:gd name="connsiteX4" fmla="*/ 2398184 w 12192000"/>
              <a:gd name="connsiteY4" fmla="*/ 271110 h 2332906"/>
              <a:gd name="connsiteX5" fmla="*/ 2410883 w 12192000"/>
              <a:gd name="connsiteY5" fmla="*/ 275506 h 2332906"/>
              <a:gd name="connsiteX6" fmla="*/ 2421467 w 12192000"/>
              <a:gd name="connsiteY6" fmla="*/ 275506 h 2332906"/>
              <a:gd name="connsiteX7" fmla="*/ 2434167 w 12192000"/>
              <a:gd name="connsiteY7" fmla="*/ 275506 h 2332906"/>
              <a:gd name="connsiteX8" fmla="*/ 2444750 w 12192000"/>
              <a:gd name="connsiteY8" fmla="*/ 271110 h 2332906"/>
              <a:gd name="connsiteX9" fmla="*/ 2457450 w 12192000"/>
              <a:gd name="connsiteY9" fmla="*/ 266713 h 2332906"/>
              <a:gd name="connsiteX10" fmla="*/ 2465917 w 12192000"/>
              <a:gd name="connsiteY10" fmla="*/ 263783 h 2332906"/>
              <a:gd name="connsiteX11" fmla="*/ 2846917 w 12192000"/>
              <a:gd name="connsiteY11" fmla="*/ 0 h 2332906"/>
              <a:gd name="connsiteX12" fmla="*/ 12192000 w 12192000"/>
              <a:gd name="connsiteY12" fmla="*/ 0 h 2332906"/>
              <a:gd name="connsiteX13" fmla="*/ 12192000 w 12192000"/>
              <a:gd name="connsiteY13" fmla="*/ 2332906 h 2332906"/>
              <a:gd name="connsiteX14" fmla="*/ 0 w 12192000"/>
              <a:gd name="connsiteY14" fmla="*/ 2332906 h 23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32906">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92000" y="0"/>
                </a:lnTo>
                <a:lnTo>
                  <a:pt x="12192000" y="2332906"/>
                </a:lnTo>
                <a:lnTo>
                  <a:pt x="0" y="2332906"/>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latin typeface="Century Gothic" panose="020B0502020202020204"/>
              <a:sym typeface="Arial"/>
            </a:endParaRPr>
          </a:p>
        </p:txBody>
      </p:sp>
      <p:sp>
        <p:nvSpPr>
          <p:cNvPr id="2" name="1 Título"/>
          <p:cNvSpPr>
            <a:spLocks noGrp="1"/>
          </p:cNvSpPr>
          <p:nvPr>
            <p:ph type="ctrTitle"/>
          </p:nvPr>
        </p:nvSpPr>
        <p:spPr>
          <a:xfrm>
            <a:off x="2133591" y="4895560"/>
            <a:ext cx="7929000" cy="779529"/>
          </a:xfrm>
        </p:spPr>
        <p:txBody>
          <a:bodyPr>
            <a:normAutofit/>
          </a:bodyPr>
          <a:lstStyle/>
          <a:p>
            <a:r>
              <a:rPr lang="en-US" sz="3500"/>
              <a:t>Esters</a:t>
            </a:r>
          </a:p>
        </p:txBody>
      </p:sp>
      <p:sp>
        <p:nvSpPr>
          <p:cNvPr id="3" name="2 Subtítulo"/>
          <p:cNvSpPr>
            <a:spLocks noGrp="1"/>
          </p:cNvSpPr>
          <p:nvPr>
            <p:ph type="subTitle" idx="1"/>
          </p:nvPr>
        </p:nvSpPr>
        <p:spPr>
          <a:xfrm>
            <a:off x="2131500" y="5594111"/>
            <a:ext cx="7929000" cy="433064"/>
          </a:xfrm>
        </p:spPr>
        <p:txBody>
          <a:bodyPr>
            <a:normAutofit/>
          </a:bodyPr>
          <a:lstStyle/>
          <a:p>
            <a:r>
              <a:rPr lang="en-US" dirty="0"/>
              <a:t>April 2022</a:t>
            </a:r>
          </a:p>
        </p:txBody>
      </p:sp>
    </p:spTree>
    <p:extLst>
      <p:ext uri="{BB962C8B-B14F-4D97-AF65-F5344CB8AC3E}">
        <p14:creationId xmlns:p14="http://schemas.microsoft.com/office/powerpoint/2010/main" val="2773684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BDEF1B6-CABC-4FE5-BBB0-98BACFAB0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latin typeface="Century Gothic" panose="020B0502020202020204"/>
              <a:sym typeface="Arial"/>
            </a:endParaRPr>
          </a:p>
        </p:txBody>
      </p:sp>
      <p:pic>
        <p:nvPicPr>
          <p:cNvPr id="7172" name="Picture 4" descr="http://3.bp.blogspot.com/_TPQpa5WIkkE/S0Z-n26rwvI/AAAAAAAAHt8/GIIOiG07r9M/s1600/perfumes+novia+1.jpg"/>
          <p:cNvPicPr>
            <a:picLocks noChangeAspect="1" noChangeArrowheads="1"/>
          </p:cNvPicPr>
          <p:nvPr/>
        </p:nvPicPr>
        <p:blipFill rotWithShape="1">
          <a:blip r:embed="rId3">
            <a:extLst>
              <a:ext uri="{28A0092B-C50C-407E-A947-70E740481C1C}">
                <a14:useLocalDpi xmlns:a14="http://schemas.microsoft.com/office/drawing/2010/main" val="0"/>
              </a:ext>
            </a:extLst>
          </a:blip>
          <a:srcRect r="1" b="2155"/>
          <a:stretch/>
        </p:blipFill>
        <p:spPr bwMode="auto">
          <a:xfrm>
            <a:off x="6013045" y="0"/>
            <a:ext cx="4654956" cy="41252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polyvore.com/cgi/img-thing?.out=jpg&amp;size=l&amp;tid=8819282"/>
          <p:cNvPicPr>
            <a:picLocks noChangeAspect="1" noChangeArrowheads="1"/>
          </p:cNvPicPr>
          <p:nvPr/>
        </p:nvPicPr>
        <p:blipFill rotWithShape="1">
          <a:blip r:embed="rId4">
            <a:extLst>
              <a:ext uri="{28A0092B-C50C-407E-A947-70E740481C1C}">
                <a14:useLocalDpi xmlns:a14="http://schemas.microsoft.com/office/drawing/2010/main" val="0"/>
              </a:ext>
            </a:extLst>
          </a:blip>
          <a:srcRect l="8803" r="11173" b="-5"/>
          <a:stretch/>
        </p:blipFill>
        <p:spPr bwMode="auto">
          <a:xfrm>
            <a:off x="6380925" y="4213080"/>
            <a:ext cx="2116481" cy="2644923"/>
          </a:xfrm>
          <a:prstGeom prst="rect">
            <a:avLst/>
          </a:prstGeom>
          <a:noFill/>
          <a:extLst>
            <a:ext uri="{909E8E84-426E-40DD-AFC4-6F175D3DCCD1}">
              <a14:hiddenFill xmlns:a14="http://schemas.microsoft.com/office/drawing/2010/main">
                <a:solidFill>
                  <a:srgbClr val="FFFFFF"/>
                </a:solidFill>
              </a14:hiddenFill>
            </a:ext>
          </a:extLst>
        </p:spPr>
      </p:pic>
      <p:sp useBgFill="1">
        <p:nvSpPr>
          <p:cNvPr id="77" name="Freeform 9">
            <a:extLst>
              <a:ext uri="{FF2B5EF4-FFF2-40B4-BE49-F238E27FC236}">
                <a16:creationId xmlns:a16="http://schemas.microsoft.com/office/drawing/2014/main" id="{B48BE8E5-C0F4-4C06-9B14-3DD8C0383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001" y="0"/>
            <a:ext cx="4864100"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latin typeface="Century Gothic" panose="020B0502020202020204"/>
              <a:sym typeface="Arial"/>
            </a:endParaRPr>
          </a:p>
        </p:txBody>
      </p:sp>
      <p:sp>
        <p:nvSpPr>
          <p:cNvPr id="2" name="1 Título"/>
          <p:cNvSpPr>
            <a:spLocks noGrp="1"/>
          </p:cNvSpPr>
          <p:nvPr>
            <p:ph type="title"/>
          </p:nvPr>
        </p:nvSpPr>
        <p:spPr>
          <a:xfrm>
            <a:off x="2131500" y="447189"/>
            <a:ext cx="3697800" cy="1559412"/>
          </a:xfrm>
          <a:effectLst/>
        </p:spPr>
        <p:txBody>
          <a:bodyPr>
            <a:normAutofit/>
          </a:bodyPr>
          <a:lstStyle/>
          <a:p>
            <a:r>
              <a:rPr lang="en-US">
                <a:solidFill>
                  <a:schemeClr val="tx1"/>
                </a:solidFill>
              </a:rPr>
              <a:t>Esters: </a:t>
            </a:r>
          </a:p>
        </p:txBody>
      </p:sp>
      <p:sp>
        <p:nvSpPr>
          <p:cNvPr id="3" name="2 Marcador de contenido"/>
          <p:cNvSpPr>
            <a:spLocks noGrp="1"/>
          </p:cNvSpPr>
          <p:nvPr>
            <p:ph idx="1"/>
          </p:nvPr>
        </p:nvSpPr>
        <p:spPr>
          <a:xfrm>
            <a:off x="2138036" y="2133600"/>
            <a:ext cx="3875009" cy="4419600"/>
          </a:xfrm>
          <a:effectLst/>
        </p:spPr>
        <p:txBody>
          <a:bodyPr>
            <a:normAutofit fontScale="92500" lnSpcReduction="20000"/>
          </a:bodyPr>
          <a:lstStyle/>
          <a:p>
            <a:pPr>
              <a:lnSpc>
                <a:spcPct val="90000"/>
              </a:lnSpc>
            </a:pPr>
            <a:r>
              <a:rPr lang="en-US" dirty="0"/>
              <a:t>Carboxylic acid derivatives: when you react a carboxylic acid and an alcohol you get an ester.</a:t>
            </a:r>
          </a:p>
          <a:p>
            <a:pPr>
              <a:lnSpc>
                <a:spcPct val="90000"/>
              </a:lnSpc>
            </a:pPr>
            <a:r>
              <a:rPr lang="en-US" dirty="0"/>
              <a:t>Esters are everywhere!</a:t>
            </a:r>
          </a:p>
          <a:p>
            <a:pPr lvl="1">
              <a:lnSpc>
                <a:spcPct val="90000"/>
              </a:lnSpc>
            </a:pPr>
            <a:r>
              <a:rPr lang="en-US" sz="1800" b="1" dirty="0"/>
              <a:t>Most naturally occurring fats are fatty acids esters of glycerol</a:t>
            </a:r>
            <a:r>
              <a:rPr lang="en-US" sz="1800" dirty="0"/>
              <a:t>. (More on this later)</a:t>
            </a:r>
          </a:p>
          <a:p>
            <a:pPr lvl="1">
              <a:lnSpc>
                <a:spcPct val="90000"/>
              </a:lnSpc>
            </a:pPr>
            <a:r>
              <a:rPr lang="en-US" sz="1800" dirty="0"/>
              <a:t>Esters with low molecular weight are commonly used as fragrances and found in essential oils and pheromones.</a:t>
            </a:r>
          </a:p>
          <a:p>
            <a:pPr lvl="1">
              <a:lnSpc>
                <a:spcPct val="90000"/>
              </a:lnSpc>
            </a:pPr>
            <a:r>
              <a:rPr lang="en-US" sz="1800" dirty="0"/>
              <a:t>Nitrate esters, such as nitroglycerin, are known for their explosive properties.</a:t>
            </a:r>
          </a:p>
          <a:p>
            <a:pPr lvl="1">
              <a:lnSpc>
                <a:spcPct val="90000"/>
              </a:lnSpc>
            </a:pPr>
            <a:r>
              <a:rPr lang="en-US" sz="1800" dirty="0"/>
              <a:t>Polyesters are important plastics.</a:t>
            </a:r>
          </a:p>
        </p:txBody>
      </p:sp>
      <p:pic>
        <p:nvPicPr>
          <p:cNvPr id="7170" name="Picture 2" descr="http://www.healblog.net/wp-content/uploads/GLN01461_49415_5.jpg"/>
          <p:cNvPicPr>
            <a:picLocks noChangeAspect="1" noChangeArrowheads="1"/>
          </p:cNvPicPr>
          <p:nvPr/>
        </p:nvPicPr>
        <p:blipFill rotWithShape="1">
          <a:blip r:embed="rId5">
            <a:extLst>
              <a:ext uri="{28A0092B-C50C-407E-A947-70E740481C1C}">
                <a14:useLocalDpi xmlns:a14="http://schemas.microsoft.com/office/drawing/2010/main" val="0"/>
              </a:ext>
            </a:extLst>
          </a:blip>
          <a:srcRect l="17826" r="22577" b="-5"/>
          <a:stretch/>
        </p:blipFill>
        <p:spPr bwMode="auto">
          <a:xfrm>
            <a:off x="8566355" y="4213075"/>
            <a:ext cx="2101644" cy="2644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644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95C348-C6D9-420C-9C43-2A1BDB5F128D}"/>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A20B592B-B662-48F2-8AAF-FCAC49D12ED1}"/>
              </a:ext>
            </a:extLst>
          </p:cNvPr>
          <p:cNvSpPr>
            <a:spLocks noGrp="1"/>
          </p:cNvSpPr>
          <p:nvPr>
            <p:ph idx="1"/>
          </p:nvPr>
        </p:nvSpPr>
        <p:spPr/>
        <p:txBody>
          <a:bodyPr/>
          <a:lstStyle/>
          <a:p>
            <a:endParaRPr lang="es-MX"/>
          </a:p>
        </p:txBody>
      </p:sp>
      <p:pic>
        <p:nvPicPr>
          <p:cNvPr id="14338" name="Picture 2">
            <a:extLst>
              <a:ext uri="{FF2B5EF4-FFF2-40B4-BE49-F238E27FC236}">
                <a16:creationId xmlns:a16="http://schemas.microsoft.com/office/drawing/2014/main" id="{9C7D5510-48D5-4628-B63F-168A3CD6B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303750"/>
            <a:ext cx="8334003" cy="6250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392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11B68-E5B5-4E42-8D20-52669964770D}"/>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AD89A526-A98E-4644-949A-603EDB6421A5}"/>
              </a:ext>
            </a:extLst>
          </p:cNvPr>
          <p:cNvSpPr>
            <a:spLocks noGrp="1"/>
          </p:cNvSpPr>
          <p:nvPr>
            <p:ph idx="1"/>
          </p:nvPr>
        </p:nvSpPr>
        <p:spPr/>
        <p:txBody>
          <a:bodyPr/>
          <a:lstStyle/>
          <a:p>
            <a:endParaRPr lang="es-MX"/>
          </a:p>
        </p:txBody>
      </p:sp>
      <p:pic>
        <p:nvPicPr>
          <p:cNvPr id="15362" name="Picture 2" descr="Why fruits smell the way they do?&#10;The smells of fruits are due to the presence of complicated mixtures of chemicals, (not always just esters) rather than solely one ester, but individual esters are often important components in this.&#10;The size of the...">
            <a:extLst>
              <a:ext uri="{FF2B5EF4-FFF2-40B4-BE49-F238E27FC236}">
                <a16:creationId xmlns:a16="http://schemas.microsoft.com/office/drawing/2014/main" id="{E7C312FF-CC64-4F90-AE5C-B9DD60381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4936" y="102110"/>
            <a:ext cx="8820664" cy="630870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43011F46-C6FE-4CAA-89BB-984C32A48146}"/>
              </a:ext>
            </a:extLst>
          </p:cNvPr>
          <p:cNvSpPr/>
          <p:nvPr/>
        </p:nvSpPr>
        <p:spPr>
          <a:xfrm>
            <a:off x="3676136" y="6535580"/>
            <a:ext cx="8515864" cy="246221"/>
          </a:xfrm>
          <a:prstGeom prst="rect">
            <a:avLst/>
          </a:prstGeom>
        </p:spPr>
        <p:txBody>
          <a:bodyPr wrap="square">
            <a:spAutoFit/>
          </a:bodyPr>
          <a:lstStyle/>
          <a:p>
            <a:pPr defTabSz="457189"/>
            <a:r>
              <a:rPr lang="es-MX" sz="1000" dirty="0">
                <a:solidFill>
                  <a:prstClr val="white"/>
                </a:solidFill>
                <a:latin typeface="Century Gothic" panose="020B0502020202020204"/>
                <a:cs typeface="Arial"/>
                <a:sym typeface="Arial"/>
                <a:hlinkClick r:id="rId3"/>
              </a:rPr>
              <a:t>https://breakingdownchemistry.tumblr.com/post/74317479432/why-fruits-smell-the-way-they-do-the-smells-of</a:t>
            </a:r>
            <a:endParaRPr lang="es-MX" sz="1000" dirty="0">
              <a:solidFill>
                <a:prstClr val="white"/>
              </a:solidFill>
              <a:latin typeface="Century Gothic" panose="020B0502020202020204"/>
              <a:cs typeface="Arial"/>
              <a:sym typeface="Arial"/>
            </a:endParaRPr>
          </a:p>
        </p:txBody>
      </p:sp>
    </p:spTree>
    <p:extLst>
      <p:ext uri="{BB962C8B-B14F-4D97-AF65-F5344CB8AC3E}">
        <p14:creationId xmlns:p14="http://schemas.microsoft.com/office/powerpoint/2010/main" val="3752756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Physical properties of esters</a:t>
            </a:r>
          </a:p>
        </p:txBody>
      </p:sp>
      <p:sp>
        <p:nvSpPr>
          <p:cNvPr id="3" name="2 Marcador de contenido"/>
          <p:cNvSpPr>
            <a:spLocks noGrp="1"/>
          </p:cNvSpPr>
          <p:nvPr>
            <p:ph idx="1"/>
          </p:nvPr>
        </p:nvSpPr>
        <p:spPr>
          <a:xfrm>
            <a:off x="2333997" y="3740122"/>
            <a:ext cx="7876803" cy="2965479"/>
          </a:xfrm>
        </p:spPr>
        <p:txBody>
          <a:bodyPr>
            <a:normAutofit lnSpcReduction="10000"/>
          </a:bodyPr>
          <a:lstStyle/>
          <a:p>
            <a:r>
              <a:rPr lang="en-US" sz="2800" dirty="0"/>
              <a:t>Small esters have boiling points </a:t>
            </a:r>
            <a:r>
              <a:rPr lang="en-US" sz="2800" b="1" dirty="0"/>
              <a:t>similar to those of aldehydes and ketones</a:t>
            </a:r>
            <a:r>
              <a:rPr lang="en-US" sz="2800" dirty="0"/>
              <a:t> with the same number of carbon atoms.</a:t>
            </a:r>
          </a:p>
          <a:p>
            <a:r>
              <a:rPr lang="en-US" sz="2800" dirty="0"/>
              <a:t>Esters are POLAR molecules.</a:t>
            </a:r>
          </a:p>
          <a:p>
            <a:r>
              <a:rPr lang="en-US" sz="2800" dirty="0"/>
              <a:t>They don’t form hydrogen bonds with each other.</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991" t="39909" r="33626" b="40079"/>
          <a:stretch/>
        </p:blipFill>
        <p:spPr bwMode="auto">
          <a:xfrm>
            <a:off x="3747682" y="1427799"/>
            <a:ext cx="6830237" cy="230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7829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dirty="0"/>
              <a:t>Physical properties of esters</a:t>
            </a:r>
          </a:p>
        </p:txBody>
      </p:sp>
      <p:sp>
        <p:nvSpPr>
          <p:cNvPr id="3" name="2 Marcador de contenido"/>
          <p:cNvSpPr>
            <a:spLocks noGrp="1"/>
          </p:cNvSpPr>
          <p:nvPr>
            <p:ph idx="1"/>
          </p:nvPr>
        </p:nvSpPr>
        <p:spPr>
          <a:xfrm>
            <a:off x="1822701" y="2971801"/>
            <a:ext cx="8870700" cy="3636511"/>
          </a:xfrm>
        </p:spPr>
        <p:txBody>
          <a:bodyPr>
            <a:normAutofit/>
          </a:bodyPr>
          <a:lstStyle/>
          <a:p>
            <a:r>
              <a:rPr lang="en-US" sz="2800" dirty="0"/>
              <a:t>Solubility:</a:t>
            </a:r>
          </a:p>
          <a:p>
            <a:pPr lvl="1"/>
            <a:r>
              <a:rPr lang="en-US" sz="2400" dirty="0"/>
              <a:t>Small chain esters are soluble in water, solubility lowers as the carbon chain increases.</a:t>
            </a:r>
          </a:p>
          <a:p>
            <a:pPr lvl="1"/>
            <a:r>
              <a:rPr lang="en-US" sz="2400" dirty="0"/>
              <a:t>Hydrogen bonds can be formed between an ester and water molecules</a:t>
            </a: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131" t="31818" r="34296" b="38095"/>
          <a:stretch/>
        </p:blipFill>
        <p:spPr bwMode="auto">
          <a:xfrm>
            <a:off x="5317144" y="1417637"/>
            <a:ext cx="5047077" cy="2620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48016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table">
  <a:themeElements>
    <a:clrScheme name="Ci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i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i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Words>
  <Application>Microsoft Office PowerPoint</Application>
  <PresentationFormat>Widescreen</PresentationFormat>
  <Paragraphs>18</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Century Gothic</vt:lpstr>
      <vt:lpstr>Wingdings 2</vt:lpstr>
      <vt:lpstr>Citable</vt:lpstr>
      <vt:lpstr>Esters</vt:lpstr>
      <vt:lpstr>Esters: </vt:lpstr>
      <vt:lpstr>PowerPoint Presentation</vt:lpstr>
      <vt:lpstr>PowerPoint Presentation</vt:lpstr>
      <vt:lpstr>Physical properties of esters</vt:lpstr>
      <vt:lpstr>Physical properties of esters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Antonio Silva Rodríguez</dc:creator>
  <cp:lastModifiedBy>Juan Antonio Silva Rodríguez</cp:lastModifiedBy>
  <cp:revision>1</cp:revision>
  <dcterms:created xsi:type="dcterms:W3CDTF">2026-04-10T21:51:47Z</dcterms:created>
  <dcterms:modified xsi:type="dcterms:W3CDTF">2026-04-10T21:52:31Z</dcterms:modified>
</cp:coreProperties>
</file>